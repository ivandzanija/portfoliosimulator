
<file path=[Content_Types].xml><?xml version="1.0" encoding="utf-8"?>
<Types xmlns="http://schemas.openxmlformats.org/package/2006/content-types">
  <Default Extension="jpeg" ContentType="image/jpeg"/>
  <Default Extension="mov" ContentType="video/quicktime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2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4" r:id="rId9"/>
    <p:sldId id="263" r:id="rId10"/>
    <p:sldId id="266" r:id="rId11"/>
    <p:sldId id="265" r:id="rId12"/>
    <p:sldId id="267" r:id="rId13"/>
    <p:sldId id="269" r:id="rId14"/>
    <p:sldId id="268" r:id="rId15"/>
    <p:sldId id="270" r:id="rId16"/>
  </p:sldIdLst>
  <p:sldSz cx="12192000" cy="6858000"/>
  <p:notesSz cx="6858000" cy="9144000"/>
  <p:defaultTextStyle>
    <a:defPPr>
      <a:defRPr lang="en-H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5"/>
    <p:restoredTop sz="94688"/>
  </p:normalViewPr>
  <p:slideViewPr>
    <p:cSldViewPr snapToGrid="0">
      <p:cViewPr varScale="1">
        <p:scale>
          <a:sx n="88" d="100"/>
          <a:sy n="88" d="100"/>
        </p:scale>
        <p:origin x="208" y="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HR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Udjeli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B1A-8C45-9BB5-3F5F6C7B478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B1A-8C45-9BB5-3F5F6C7B478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B1A-8C45-9BB5-3F5F6C7B4781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3B1A-8C45-9BB5-3F5F6C7B4781}"/>
              </c:ext>
            </c:extLst>
          </c:dPt>
          <c:cat>
            <c:strRef>
              <c:f>Sheet1!$A$2:$A$5</c:f>
              <c:strCache>
                <c:ptCount val="4"/>
                <c:pt idx="0">
                  <c:v>AAPL</c:v>
                </c:pt>
                <c:pt idx="1">
                  <c:v>TSLA</c:v>
                </c:pt>
                <c:pt idx="2">
                  <c:v>MSFT</c:v>
                </c:pt>
                <c:pt idx="3">
                  <c:v>GLD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000-E646-A3F5-E76F7163CA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H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H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F53ED-24F4-1C2A-9088-0FECC35ED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B84D10-0951-CC3D-53D4-79E2C0B001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541C6-6612-6C06-38B0-34DA7C6FC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09.07.2025.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5AC8C4-69F0-5392-5AC8-BF02EA10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F09532-6ADC-974C-707A-09434FC73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22594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CF524-221F-9627-5DB1-CA9297B90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471DE-50C5-F927-3ADF-9360E31C5E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E41719-DD5B-B5F2-5D37-70D11F025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09.07.2025.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3C85F3-AE40-C421-C153-B70812EFD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17DAC9-2F87-F4E4-6650-5843D0E2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486517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857ED-2D71-FB19-8CBA-58308EAD6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3E99C7-B245-597D-A564-8C54C1D534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8BA3D1-C7AD-0541-E457-EE497A0E6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09.07.2025.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0A91E-41C7-05D6-544D-F9BFB271A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351DC-1AC5-910B-01A3-8CE51B500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1746974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C121C-0BBB-FA55-F4D6-EDC3365E1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6059B1-0EA2-B269-61CB-87F49BB484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r-H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1391FA-9E70-AED5-0C77-3928BE8151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r-H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306EFD-F22F-104D-BEFF-4B8353B7B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09.07.2025.</a:t>
            </a:fld>
            <a:endParaRPr lang="hr-H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CEDF17-B94B-5DE8-0A82-63230022F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65C4EC-3B86-55DB-3B05-19E0038FC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86589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F58A6-3FDF-17DD-2CA3-B4A4AC15B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125E18-4DBA-27A0-D73B-A7137A8B5C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DA21D8-8A64-B7C8-CE9B-9A1AC8BEB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r-H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A9562C-E0E5-500A-8E03-20C40079B8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01A8F3-B3C6-ABDB-5008-6CD44FC86B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r-H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F674E9-FAA1-DC80-7DB7-5DAD42C63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09.07.2025.</a:t>
            </a:fld>
            <a:endParaRPr lang="hr-H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CC979B-3EE5-EFDD-BFDD-66116AB7B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AAC127-A7A8-A368-EB61-2558EC777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32154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94C4B-F255-A4FC-0DEF-545FC6B23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CBF70D-0343-C341-C05A-2AB48546D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09.07.2025.</a:t>
            </a:fld>
            <a:endParaRPr lang="hr-H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4D653E-74B3-CB31-39BF-3A767E97A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08BCC9-D6AD-F20A-CAC6-EFD528CF1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610913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874E8-A476-C9F6-143E-2A281376C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09.07.2025.</a:t>
            </a:fld>
            <a:endParaRPr lang="hr-H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C433D3-3C8B-803A-EA0B-FF82DAC2D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A58CD5-9389-7AFF-B304-141CDC76A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59736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770FD-E6EF-22FC-0A8A-C1EB0E24F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1F643E-E737-45BA-19C0-3DCC576C2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r-H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AF9F7C-14B7-ED32-3C07-401F915861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0D06DD-C51B-0F7A-7310-8C75AF772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09.07.2025.</a:t>
            </a:fld>
            <a:endParaRPr lang="hr-H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A6443B-61C4-62A6-5C3B-3E99B246B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B0DEC8-8990-7FC7-B648-55F5E9AA8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922461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9607-72A9-7593-E19C-6300DAD38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61F986-0BC5-5484-EA65-1A66D98BCE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r-H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4BED75-9CC6-99FD-AD49-69DA1F2EF9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4A6419-7761-99A1-5B94-CDE78A44C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09.07.2025.</a:t>
            </a:fld>
            <a:endParaRPr lang="hr-H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EFBA88-8DC9-17FE-E07A-3BD6D931E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91F941-AF9F-32F8-AB42-CBF9AA1B2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41662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6CABE-C22C-452D-EE7C-932AEA280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4D9F8A-BB55-1723-C55E-8EBA42995A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1C4F6-D6A4-2423-6E6F-0B9BE0521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09.07.2025.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02AF86-000B-C6E2-190E-BCF7D02C2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58429F-A03D-AFFE-B85C-4910AD41E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508003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987A72-C3CE-03BC-F66F-CF7CE2D574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66AECA-E4A7-A81C-AE2F-DA5CAAC47D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B2DCE-C14D-5790-C900-B7B45ECD4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09.07.2025.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EEA369-5A2B-B50C-E0D3-9D709E65D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FD8CF5-0DCE-56A6-6B22-773DEEB39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975453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D2EA97-5850-01F4-FE49-76A5841F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6F904-A675-CF81-B61A-8387018243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B4A8EC-FC80-527D-2FAC-582C823DDE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4111DA-000E-1741-90DA-206979CC3F8D}" type="datetimeFigureOut">
              <a:rPr lang="hr-HR" smtClean="0"/>
              <a:t>09.07.2025.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3D0E55-DA7F-72F2-EF83-1390A13417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E900AB-9D47-58E1-F968-D0C427E70F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950165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97663-0BD0-3A89-BC05-C9FB5A8B9B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124" y="2555370"/>
            <a:ext cx="8361229" cy="2098226"/>
          </a:xfrm>
        </p:spPr>
        <p:txBody>
          <a:bodyPr>
            <a:noAutofit/>
          </a:bodyPr>
          <a:lstStyle/>
          <a:p>
            <a:r>
              <a:rPr lang="en-GB" sz="5000" b="1" dirty="0" err="1"/>
              <a:t>Razvoj</a:t>
            </a:r>
            <a:r>
              <a:rPr lang="en-GB" sz="5000" b="1" dirty="0"/>
              <a:t> </a:t>
            </a:r>
            <a:r>
              <a:rPr lang="en-GB" sz="5000" b="1" dirty="0" err="1"/>
              <a:t>aplikacije</a:t>
            </a:r>
            <a:r>
              <a:rPr lang="en-GB" sz="5000" b="1" dirty="0"/>
              <a:t> za </a:t>
            </a:r>
            <a:r>
              <a:rPr lang="en-GB" sz="5000" b="1" dirty="0" err="1"/>
              <a:t>procjenu</a:t>
            </a:r>
            <a:r>
              <a:rPr lang="en-GB" sz="5000" b="1" dirty="0"/>
              <a:t> </a:t>
            </a:r>
            <a:r>
              <a:rPr lang="en-GB" sz="5000" b="1" dirty="0" err="1"/>
              <a:t>rizika</a:t>
            </a:r>
            <a:r>
              <a:rPr lang="en-GB" sz="5000" b="1" dirty="0"/>
              <a:t> u </a:t>
            </a:r>
            <a:r>
              <a:rPr lang="en-GB" sz="5000" b="1" dirty="0" err="1"/>
              <a:t>investicijskim</a:t>
            </a:r>
            <a:r>
              <a:rPr lang="en-GB" sz="5000" b="1" dirty="0"/>
              <a:t> </a:t>
            </a:r>
            <a:r>
              <a:rPr lang="en-GB" sz="5000" b="1" dirty="0" err="1"/>
              <a:t>portfeljima</a:t>
            </a:r>
            <a:r>
              <a:rPr lang="en-GB" sz="5000" b="1" dirty="0"/>
              <a:t> </a:t>
            </a:r>
            <a:r>
              <a:rPr lang="en-GB" sz="5000" b="1" dirty="0" err="1"/>
              <a:t>uz</a:t>
            </a:r>
            <a:r>
              <a:rPr lang="en-GB" sz="5000" b="1" dirty="0"/>
              <a:t> </a:t>
            </a:r>
            <a:r>
              <a:rPr lang="en-GB" sz="5000" b="1" dirty="0" err="1"/>
              <a:t>pomoć</a:t>
            </a:r>
            <a:r>
              <a:rPr lang="en-GB" sz="5000" b="1" dirty="0"/>
              <a:t> Monte Carlo </a:t>
            </a:r>
            <a:r>
              <a:rPr lang="en-GB" sz="5000" b="1" dirty="0" err="1"/>
              <a:t>simulacija</a:t>
            </a:r>
            <a:endParaRPr lang="hr-HR" sz="5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EBA3FE-69C5-99A1-E17A-2C12576651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9901" y="4653596"/>
            <a:ext cx="6831673" cy="1086237"/>
          </a:xfrm>
        </p:spPr>
        <p:txBody>
          <a:bodyPr>
            <a:normAutofit fontScale="92500" lnSpcReduction="20000"/>
          </a:bodyPr>
          <a:lstStyle/>
          <a:p>
            <a:r>
              <a:rPr lang="hr-HR" dirty="0"/>
              <a:t>Ivan Džanija </a:t>
            </a:r>
          </a:p>
          <a:p>
            <a:r>
              <a:rPr lang="hr-HR" dirty="0"/>
              <a:t>Mentorica: </a:t>
            </a:r>
            <a:r>
              <a:rPr lang="en-GB" dirty="0" err="1"/>
              <a:t>izv</a:t>
            </a:r>
            <a:r>
              <a:rPr lang="en-GB" dirty="0"/>
              <a:t>. prof. dr. sc. Mihaela Vranić</a:t>
            </a:r>
          </a:p>
          <a:p>
            <a:r>
              <a:rPr lang="en-GB" dirty="0" err="1"/>
              <a:t>Fakultet</a:t>
            </a:r>
            <a:r>
              <a:rPr lang="en-GB" dirty="0"/>
              <a:t> </a:t>
            </a:r>
            <a:r>
              <a:rPr lang="en-GB" dirty="0" err="1"/>
              <a:t>elektrotehnike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računarstva</a:t>
            </a:r>
            <a:r>
              <a:rPr lang="en-GB" dirty="0"/>
              <a:t>, 2025.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2814855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65BBF-EA21-B97D-9114-7EC1C9943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Financijski instrumenti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6EAB0D-E7F6-4106-3E6B-C570C7B1DE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r-HR" sz="2400" dirty="0"/>
              <a:t>Dionice</a:t>
            </a:r>
          </a:p>
          <a:p>
            <a:r>
              <a:rPr lang="hr-HR" sz="2400" dirty="0"/>
              <a:t>Obveznice</a:t>
            </a:r>
          </a:p>
          <a:p>
            <a:r>
              <a:rPr lang="hr-HR" sz="2400" dirty="0"/>
              <a:t>Trezorski zapisi</a:t>
            </a:r>
          </a:p>
          <a:p>
            <a:r>
              <a:rPr lang="hr-HR" sz="2400" dirty="0" err="1"/>
              <a:t>Kriptovalute</a:t>
            </a:r>
            <a:r>
              <a:rPr lang="hr-HR" sz="2400" dirty="0"/>
              <a:t> </a:t>
            </a:r>
          </a:p>
          <a:p>
            <a:r>
              <a:rPr lang="hr-HR" sz="2400" dirty="0"/>
              <a:t>Izvedenice (</a:t>
            </a:r>
            <a:r>
              <a:rPr lang="hr-HR" sz="2400" dirty="0" err="1"/>
              <a:t>futures</a:t>
            </a:r>
            <a:r>
              <a:rPr lang="hr-HR" sz="2400" dirty="0"/>
              <a:t>, </a:t>
            </a:r>
            <a:r>
              <a:rPr lang="hr-HR" sz="2400" dirty="0" err="1"/>
              <a:t>options</a:t>
            </a:r>
            <a:r>
              <a:rPr lang="hr-HR" sz="2400" dirty="0"/>
              <a:t>, </a:t>
            </a:r>
            <a:r>
              <a:rPr lang="hr-HR" sz="2400" dirty="0" err="1"/>
              <a:t>swaps</a:t>
            </a:r>
            <a:r>
              <a:rPr lang="hr-HR" sz="2400" dirty="0"/>
              <a:t>)</a:t>
            </a:r>
          </a:p>
          <a:p>
            <a:r>
              <a:rPr lang="hr-HR" sz="2400" dirty="0"/>
              <a:t>Udjeli u fondovima</a:t>
            </a:r>
          </a:p>
          <a:p>
            <a:r>
              <a:rPr lang="hr-HR" sz="2400" dirty="0"/>
              <a:t>Krediti, </a:t>
            </a:r>
            <a:r>
              <a:rPr lang="hr-HR" sz="2400" dirty="0" err="1"/>
              <a:t>forex</a:t>
            </a:r>
            <a:r>
              <a:rPr lang="hr-HR" sz="2400" dirty="0"/>
              <a:t>, umjetnine, satovi…  </a:t>
            </a:r>
          </a:p>
          <a:p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3203175931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07658-2CDF-78D0-7808-5166F8957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Investicijski portfelj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BAD71-A86D-BA2A-110B-F25A844455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r-HR" sz="2400" dirty="0"/>
              <a:t>Skup financijske imovine sastavljen od raznih financijskih instrumenata</a:t>
            </a:r>
          </a:p>
          <a:p>
            <a:r>
              <a:rPr lang="hr-HR" sz="2400" dirty="0"/>
              <a:t>Investiranje – trenutno odricanje za buduću dobit</a:t>
            </a:r>
          </a:p>
          <a:p>
            <a:r>
              <a:rPr lang="hr-HR" sz="2400" dirty="0"/>
              <a:t>Cilj: stvoriti portfelj koji donosi maksimalnu buduću dobit uz minimalni rizik</a:t>
            </a:r>
          </a:p>
          <a:p>
            <a:r>
              <a:rPr lang="hr-HR" sz="2400" dirty="0"/>
              <a:t>Rješenja: ekonomske teorije, psihologija mase/društva, teorija igara, matematičko modeliranje</a:t>
            </a:r>
          </a:p>
          <a:p>
            <a:r>
              <a:rPr lang="hr-HR" sz="2400" dirty="0"/>
              <a:t>Portfelj – vektor udjela u pojedini financijski instrument</a:t>
            </a:r>
          </a:p>
          <a:p>
            <a:endParaRPr lang="hr-HR" sz="2400" dirty="0"/>
          </a:p>
        </p:txBody>
      </p:sp>
      <p:pic>
        <p:nvPicPr>
          <p:cNvPr id="5" name="Picture 4" descr="A black and white image of a rectangular object with a rectangular object with a rectangular object with a rectangular object with a rectangular object with a rectangular object with a rectangular object with a rectangular object with a&#10;&#10;AI-generated content may be incorrect.">
            <a:extLst>
              <a:ext uri="{FF2B5EF4-FFF2-40B4-BE49-F238E27FC236}">
                <a16:creationId xmlns:a16="http://schemas.microsoft.com/office/drawing/2014/main" id="{8CB3F067-CEB2-DA0B-C1FC-36259A2D4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665" y="4714875"/>
            <a:ext cx="2336800" cy="1778000"/>
          </a:xfrm>
          <a:prstGeom prst="rect">
            <a:avLst/>
          </a:prstGeom>
        </p:spPr>
      </p:pic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9FFDA23-4264-3273-B93D-0ACE8A9BC5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59847268"/>
              </p:ext>
            </p:extLst>
          </p:nvPr>
        </p:nvGraphicFramePr>
        <p:xfrm>
          <a:off x="7595419" y="3790335"/>
          <a:ext cx="4596581" cy="2960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84153079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207B083-EAC0-A5BB-C369-C9589EC7F2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6F5A88-7B18-FE40-8744-EA4A8833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603504"/>
            <a:ext cx="10872216" cy="1527048"/>
          </a:xfrm>
        </p:spPr>
        <p:txBody>
          <a:bodyPr anchor="b">
            <a:normAutofit/>
          </a:bodyPr>
          <a:lstStyle/>
          <a:p>
            <a:r>
              <a:rPr lang="hr-HR" dirty="0"/>
              <a:t>Modeliranje portfelja? Predviđanje buduće vrijednosti?</a:t>
            </a:r>
          </a:p>
        </p:txBody>
      </p:sp>
      <p:pic>
        <p:nvPicPr>
          <p:cNvPr id="5" name="Picture 4" descr="A graph of a stock market&#10;&#10;AI-generated content may be incorrect.">
            <a:extLst>
              <a:ext uri="{FF2B5EF4-FFF2-40B4-BE49-F238E27FC236}">
                <a16:creationId xmlns:a16="http://schemas.microsoft.com/office/drawing/2014/main" id="{E02D3168-27FE-C45D-9086-41AEFEDAC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678" y="2441274"/>
            <a:ext cx="5173647" cy="323352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2F94D-1947-2EC9-C80C-E4441EAB5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441273"/>
            <a:ext cx="5385816" cy="3817942"/>
          </a:xfrm>
        </p:spPr>
        <p:txBody>
          <a:bodyPr anchor="t">
            <a:normAutofit/>
          </a:bodyPr>
          <a:lstStyle/>
          <a:p>
            <a:r>
              <a:rPr lang="hr-HR" sz="1800" dirty="0"/>
              <a:t>Ekonomska teorija -&gt; potrošačka košarica -&gt; inflacija -&gt; predviđanje recesija/rast</a:t>
            </a:r>
          </a:p>
          <a:p>
            <a:r>
              <a:rPr lang="hr-HR" sz="1800" dirty="0"/>
              <a:t>Psihologija -&gt; </a:t>
            </a:r>
            <a:r>
              <a:rPr lang="hr-HR" sz="1800" dirty="0" err="1"/>
              <a:t>Covid</a:t>
            </a:r>
            <a:r>
              <a:rPr lang="hr-HR" sz="1800" dirty="0"/>
              <a:t> -&gt; Ljudi  trebaju novce sada za zalihe -&gt; predviđanje pada vrijednosti investicija za budućnost</a:t>
            </a:r>
          </a:p>
          <a:p>
            <a:r>
              <a:rPr lang="hr-HR" sz="1800" dirty="0"/>
              <a:t>Izrazito nepouzdano, nagađanje</a:t>
            </a:r>
          </a:p>
          <a:p>
            <a:r>
              <a:rPr lang="hr-HR" sz="1800" dirty="0"/>
              <a:t>Moderna teorija portfelja – H. </a:t>
            </a:r>
            <a:r>
              <a:rPr lang="hr-HR" sz="1800" dirty="0" err="1"/>
              <a:t>Markowitz</a:t>
            </a:r>
            <a:r>
              <a:rPr lang="hr-HR" sz="1800" dirty="0"/>
              <a:t> (Nobel)</a:t>
            </a:r>
          </a:p>
          <a:p>
            <a:r>
              <a:rPr lang="hr-HR" sz="1800" dirty="0"/>
              <a:t>Statistika, stohastički procesi, teorija vjerojatnosti, obrada signala</a:t>
            </a:r>
          </a:p>
          <a:p>
            <a:r>
              <a:rPr lang="hr-HR" sz="1800" dirty="0"/>
              <a:t>Imaju lijepe matematičke reprezentacije, egzaktna rješenja </a:t>
            </a:r>
          </a:p>
          <a:p>
            <a:r>
              <a:rPr lang="hr-HR" sz="1800" dirty="0"/>
              <a:t>Koji matematički model primijeniti i na što točno? </a:t>
            </a:r>
          </a:p>
        </p:txBody>
      </p:sp>
    </p:spTree>
    <p:extLst>
      <p:ext uri="{BB962C8B-B14F-4D97-AF65-F5344CB8AC3E}">
        <p14:creationId xmlns:p14="http://schemas.microsoft.com/office/powerpoint/2010/main" val="64014004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D9B1E-88CA-4AC9-E824-AA00B0FD8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Povrati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79A09-F80B-1C61-AFAB-DA5C007FB9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17525" cy="4667250"/>
          </a:xfrm>
        </p:spPr>
        <p:txBody>
          <a:bodyPr/>
          <a:lstStyle/>
          <a:p>
            <a:r>
              <a:rPr lang="hr-HR" dirty="0"/>
              <a:t>Aritmetički povrat</a:t>
            </a:r>
          </a:p>
          <a:p>
            <a:r>
              <a:rPr lang="hr-HR" dirty="0"/>
              <a:t>Logaritamski povrat</a:t>
            </a:r>
          </a:p>
          <a:p>
            <a:r>
              <a:rPr lang="hr-HR" dirty="0"/>
              <a:t>Očekivani povrat</a:t>
            </a:r>
          </a:p>
          <a:p>
            <a:r>
              <a:rPr lang="hr-HR" dirty="0"/>
              <a:t>Generalizacija na cijeli portfelj (linearna kombinacija)</a:t>
            </a:r>
          </a:p>
          <a:p>
            <a:r>
              <a:rPr lang="hr-HR" dirty="0"/>
              <a:t>Veliki skup podataka povijesni povrata</a:t>
            </a:r>
          </a:p>
          <a:p>
            <a:r>
              <a:rPr lang="hr-HR" dirty="0"/>
              <a:t>Generaliziramo iz skupa podataka povrate i na temelju toga donosimo zaključke i interpretacije</a:t>
            </a:r>
          </a:p>
        </p:txBody>
      </p:sp>
      <p:pic>
        <p:nvPicPr>
          <p:cNvPr id="5" name="Picture 4" descr="A mathematical equation with black text&#10;&#10;AI-generated content may be incorrect.">
            <a:extLst>
              <a:ext uri="{FF2B5EF4-FFF2-40B4-BE49-F238E27FC236}">
                <a16:creationId xmlns:a16="http://schemas.microsoft.com/office/drawing/2014/main" id="{4AD3A477-EB91-0FE6-B234-FCE0C5741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9100" y="1268553"/>
            <a:ext cx="3492500" cy="965200"/>
          </a:xfrm>
          <a:prstGeom prst="rect">
            <a:avLst/>
          </a:prstGeom>
        </p:spPr>
      </p:pic>
      <p:pic>
        <p:nvPicPr>
          <p:cNvPr id="7" name="Picture 6" descr="A mathematical equation with black text&#10;&#10;AI-generated content may be incorrect.">
            <a:extLst>
              <a:ext uri="{FF2B5EF4-FFF2-40B4-BE49-F238E27FC236}">
                <a16:creationId xmlns:a16="http://schemas.microsoft.com/office/drawing/2014/main" id="{27C1F438-980C-8F1C-2E8A-7805122B64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306" y="2052205"/>
            <a:ext cx="3136900" cy="812800"/>
          </a:xfrm>
          <a:prstGeom prst="rect">
            <a:avLst/>
          </a:prstGeom>
        </p:spPr>
      </p:pic>
      <p:pic>
        <p:nvPicPr>
          <p:cNvPr id="9" name="Picture 8" descr="A mathematical equation with numbers and symbols&#10;&#10;AI-generated content may be incorrect.">
            <a:extLst>
              <a:ext uri="{FF2B5EF4-FFF2-40B4-BE49-F238E27FC236}">
                <a16:creationId xmlns:a16="http://schemas.microsoft.com/office/drawing/2014/main" id="{F34F8109-0CE0-5669-15FF-9BAA0642EE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6350" y="2865005"/>
            <a:ext cx="1778000" cy="711200"/>
          </a:xfrm>
          <a:prstGeom prst="rect">
            <a:avLst/>
          </a:prstGeom>
        </p:spPr>
      </p:pic>
      <p:pic>
        <p:nvPicPr>
          <p:cNvPr id="11" name="Picture 10" descr="A mathematical equation with black text&#10;&#10;AI-generated content may be incorrect.">
            <a:extLst>
              <a:ext uri="{FF2B5EF4-FFF2-40B4-BE49-F238E27FC236}">
                <a16:creationId xmlns:a16="http://schemas.microsoft.com/office/drawing/2014/main" id="{7BE30B0F-B0B2-2C47-A416-E830F23BD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56" y="3676651"/>
            <a:ext cx="2260600" cy="711200"/>
          </a:xfrm>
          <a:prstGeom prst="rect">
            <a:avLst/>
          </a:prstGeom>
        </p:spPr>
      </p:pic>
      <p:cxnSp>
        <p:nvCxnSpPr>
          <p:cNvPr id="13" name="Curved Connector 12">
            <a:extLst>
              <a:ext uri="{FF2B5EF4-FFF2-40B4-BE49-F238E27FC236}">
                <a16:creationId xmlns:a16="http://schemas.microsoft.com/office/drawing/2014/main" id="{A56319A1-B9ED-09F5-C1C3-D9AF2B20E84A}"/>
              </a:ext>
            </a:extLst>
          </p:cNvPr>
          <p:cNvCxnSpPr/>
          <p:nvPr/>
        </p:nvCxnSpPr>
        <p:spPr>
          <a:xfrm flipV="1">
            <a:off x="4196962" y="1690688"/>
            <a:ext cx="4344344" cy="361517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A8FD3883-A600-A8F6-9B85-F2E6CA28AE0E}"/>
              </a:ext>
            </a:extLst>
          </p:cNvPr>
          <p:cNvCxnSpPr>
            <a:cxnSpLocks/>
          </p:cNvCxnSpPr>
          <p:nvPr/>
        </p:nvCxnSpPr>
        <p:spPr>
          <a:xfrm flipV="1">
            <a:off x="4196962" y="2354258"/>
            <a:ext cx="4371672" cy="30047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97F07137-09DD-4163-FA96-03C9F4D9F764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7403690" y="3647503"/>
            <a:ext cx="1575766" cy="384748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9154C478-DD15-FE8D-7B52-212D43341C05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4196962" y="3016251"/>
            <a:ext cx="4849388" cy="20435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440261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0A220-DE77-522F-8810-F343E75F2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Rizik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EBD6E3-F95F-0C5B-C494-8736328C20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95335" cy="4667250"/>
          </a:xfrm>
        </p:spPr>
        <p:txBody>
          <a:bodyPr/>
          <a:lstStyle/>
          <a:p>
            <a:r>
              <a:rPr lang="hr-HR" dirty="0"/>
              <a:t>Na koji način mjeriti rizik? </a:t>
            </a:r>
          </a:p>
          <a:p>
            <a:r>
              <a:rPr lang="hr-HR" dirty="0"/>
              <a:t>Jednostavna mjera s lijepim matematičkim svojstvima: VOLATILNOST</a:t>
            </a:r>
          </a:p>
          <a:p>
            <a:r>
              <a:rPr lang="hr-HR" dirty="0"/>
              <a:t>Volatilnost – nepristran procjenitelj standardne devijacije slučajne varijable R</a:t>
            </a:r>
            <a:r>
              <a:rPr lang="hr-HR" baseline="-25000" dirty="0"/>
              <a:t>t</a:t>
            </a:r>
          </a:p>
          <a:p>
            <a:r>
              <a:rPr lang="hr-HR" dirty="0"/>
              <a:t>Nije najbolja mjera rizika – uglavnom smo sretni ako nam volatilnost donese profit </a:t>
            </a:r>
          </a:p>
        </p:txBody>
      </p:sp>
      <p:pic>
        <p:nvPicPr>
          <p:cNvPr id="5" name="Picture 4" descr="A black rectangular object with black text&#10;&#10;AI-generated content may be incorrect.">
            <a:extLst>
              <a:ext uri="{FF2B5EF4-FFF2-40B4-BE49-F238E27FC236}">
                <a16:creationId xmlns:a16="http://schemas.microsoft.com/office/drawing/2014/main" id="{CA8A5915-2DA7-6A44-E94A-D2091C6292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0560" y="1825625"/>
            <a:ext cx="4083240" cy="1905512"/>
          </a:xfrm>
          <a:prstGeom prst="rect">
            <a:avLst/>
          </a:prstGeom>
        </p:spPr>
      </p:pic>
      <p:pic>
        <p:nvPicPr>
          <p:cNvPr id="7" name="Picture 6" descr="A square root of a mathematical equation&#10;&#10;AI-generated content may be incorrect.">
            <a:extLst>
              <a:ext uri="{FF2B5EF4-FFF2-40B4-BE49-F238E27FC236}">
                <a16:creationId xmlns:a16="http://schemas.microsoft.com/office/drawing/2014/main" id="{CCC0A1C9-FCCA-ECE4-DDD7-AF95B94AB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0123" y="4306529"/>
            <a:ext cx="2826556" cy="11208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AB2B5D1-5F95-CC1B-1934-29D8FE604997}"/>
              </a:ext>
            </a:extLst>
          </p:cNvPr>
          <p:cNvSpPr txBox="1"/>
          <p:nvPr/>
        </p:nvSpPr>
        <p:spPr>
          <a:xfrm>
            <a:off x="6742172" y="1609052"/>
            <a:ext cx="5449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dirty="0"/>
              <a:t>Volatilnost jedne varijable/investicijskog instrumenta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671B37-AC94-AD93-C2E2-7585E7366DE2}"/>
              </a:ext>
            </a:extLst>
          </p:cNvPr>
          <p:cNvSpPr txBox="1"/>
          <p:nvPr/>
        </p:nvSpPr>
        <p:spPr>
          <a:xfrm>
            <a:off x="6873268" y="3974584"/>
            <a:ext cx="48202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dirty="0"/>
              <a:t>Volatilnost više varijabli/investicijskog portfelja</a:t>
            </a:r>
          </a:p>
        </p:txBody>
      </p:sp>
    </p:spTree>
    <p:extLst>
      <p:ext uri="{BB962C8B-B14F-4D97-AF65-F5344CB8AC3E}">
        <p14:creationId xmlns:p14="http://schemas.microsoft.com/office/powerpoint/2010/main" val="221460135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Slide Background">
            <a:extLst>
              <a:ext uri="{FF2B5EF4-FFF2-40B4-BE49-F238E27FC236}">
                <a16:creationId xmlns:a16="http://schemas.microsoft.com/office/drawing/2014/main" id="{EEDFD83B-474E-42D8-99FD-250991624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18AC0D4-F32D-4067-9F63-E553F4AFF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3429000"/>
          </a:xfrm>
          <a:prstGeom prst="rect">
            <a:avLst/>
          </a:prstGeom>
          <a:ln>
            <a:noFill/>
          </a:ln>
          <a:effectLst>
            <a:outerShdw blurRad="203200" dist="127000" dir="5400000" sx="94000" sy="94000" algn="t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836F7B-7ED0-6015-60AC-7472A97A5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2" y="384047"/>
            <a:ext cx="4495999" cy="2658201"/>
          </a:xfrm>
        </p:spPr>
        <p:txBody>
          <a:bodyPr anchor="ctr">
            <a:normAutofit/>
          </a:bodyPr>
          <a:lstStyle/>
          <a:p>
            <a:r>
              <a:rPr lang="hr-HR" sz="4000" dirty="0"/>
              <a:t>Monte Carlo simulacije,</a:t>
            </a:r>
            <a:br>
              <a:rPr lang="hr-HR" sz="4000" dirty="0"/>
            </a:br>
            <a:r>
              <a:rPr lang="hr-HR" sz="4000" dirty="0"/>
              <a:t>Geometrijsko </a:t>
            </a:r>
            <a:r>
              <a:rPr lang="hr-HR" sz="4000" dirty="0" err="1"/>
              <a:t>Brownovo</a:t>
            </a:r>
            <a:r>
              <a:rPr lang="hr-HR" sz="4000" dirty="0"/>
              <a:t> gibanje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6FA61-B056-779A-82D8-28CEF2A2A2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384048"/>
            <a:ext cx="5257799" cy="2658201"/>
          </a:xfrm>
        </p:spPr>
        <p:txBody>
          <a:bodyPr anchor="ctr">
            <a:normAutofit/>
          </a:bodyPr>
          <a:lstStyle/>
          <a:p>
            <a:r>
              <a:rPr lang="hr-HR" sz="1700"/>
              <a:t>Statistička metoda – ponovno uzorkovanje </a:t>
            </a:r>
          </a:p>
          <a:p>
            <a:r>
              <a:rPr lang="hr-HR" sz="1700"/>
              <a:t>Puno simulacija, nova distribucija predviđanja budućih vrijednosti, interpretacija distribucije</a:t>
            </a:r>
          </a:p>
          <a:p>
            <a:r>
              <a:rPr lang="hr-HR" sz="1700"/>
              <a:t>Nije točno određen matematički model – odabrano Geometrijsko Brownovo gibanje (GMB)</a:t>
            </a:r>
          </a:p>
          <a:p>
            <a:r>
              <a:rPr lang="hr-HR" sz="1700"/>
              <a:t>GMB – stohastički proces, konstantna volatilnost, asimetričnost povrata, logaritamski povrati</a:t>
            </a:r>
          </a:p>
          <a:p>
            <a:endParaRPr lang="hr-HR" sz="1700"/>
          </a:p>
          <a:p>
            <a:endParaRPr lang="hr-HR" sz="1700"/>
          </a:p>
        </p:txBody>
      </p:sp>
      <p:pic>
        <p:nvPicPr>
          <p:cNvPr id="5" name="Picture 4" descr="A black text with a plus and a plus symbol&#10;&#10;AI-generated content may be incorrect.">
            <a:extLst>
              <a:ext uri="{FF2B5EF4-FFF2-40B4-BE49-F238E27FC236}">
                <a16:creationId xmlns:a16="http://schemas.microsoft.com/office/drawing/2014/main" id="{8AE23AE7-0916-D2DE-6555-F74F09669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02" y="4268384"/>
            <a:ext cx="5160779" cy="1638546"/>
          </a:xfrm>
          <a:prstGeom prst="rect">
            <a:avLst/>
          </a:prstGeom>
          <a:effectLst/>
        </p:spPr>
      </p:pic>
      <p:pic>
        <p:nvPicPr>
          <p:cNvPr id="7" name="Picture 6" descr="A mathematical equation with numbers and symbols&#10;&#10;AI-generated content may be incorrect.">
            <a:extLst>
              <a:ext uri="{FF2B5EF4-FFF2-40B4-BE49-F238E27FC236}">
                <a16:creationId xmlns:a16="http://schemas.microsoft.com/office/drawing/2014/main" id="{F47A32EB-4838-0583-32B1-9FAA0B249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4314" y="4182062"/>
            <a:ext cx="5109485" cy="178832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941938787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5D935-5C27-E627-CE7B-87E69DFCC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PCA dekompozicija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43D62-F22C-4A82-18F9-5D4A5881E0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r-HR" sz="2400"/>
              <a:t>Diverzifikacija = smanjenje rizika, </a:t>
            </a:r>
            <a:r>
              <a:rPr lang="en-GB" sz="2400"/>
              <a:t>“Diversification is the only free lunch in investing” – H. Markowitz</a:t>
            </a:r>
            <a:endParaRPr lang="hr-HR" sz="2400" dirty="0"/>
          </a:p>
        </p:txBody>
      </p:sp>
      <p:pic>
        <p:nvPicPr>
          <p:cNvPr id="7" name="Picture 6" descr="A graph of different colored dots&#10;&#10;AI-generated content may be incorrect.">
            <a:extLst>
              <a:ext uri="{FF2B5EF4-FFF2-40B4-BE49-F238E27FC236}">
                <a16:creationId xmlns:a16="http://schemas.microsoft.com/office/drawing/2014/main" id="{93D45645-2FF8-7E00-7A1C-2DFBC9F1E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245" y="2582189"/>
            <a:ext cx="9055510" cy="3729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813493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33139-F9C7-D5AA-664F-55C3DA40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Dodatni alati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1102C-A0F1-0D19-14B0-FEF403A056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1381" y="2506662"/>
            <a:ext cx="4972665" cy="4351338"/>
          </a:xfrm>
        </p:spPr>
        <p:txBody>
          <a:bodyPr>
            <a:normAutofit/>
          </a:bodyPr>
          <a:lstStyle/>
          <a:p>
            <a:r>
              <a:rPr lang="hr-HR" sz="2400" dirty="0" err="1"/>
              <a:t>Uzoračka</a:t>
            </a:r>
            <a:r>
              <a:rPr lang="hr-HR" sz="2400" dirty="0"/>
              <a:t> matrica kovarijance</a:t>
            </a:r>
          </a:p>
          <a:p>
            <a:r>
              <a:rPr lang="hr-HR" sz="2400" dirty="0" err="1"/>
              <a:t>Cholesky</a:t>
            </a:r>
            <a:r>
              <a:rPr lang="hr-HR" sz="2400" dirty="0"/>
              <a:t> dekompozicija</a:t>
            </a:r>
          </a:p>
          <a:p>
            <a:r>
              <a:rPr lang="hr-HR" sz="2400" dirty="0"/>
              <a:t>Svojstvena dekompozicija </a:t>
            </a:r>
          </a:p>
          <a:p>
            <a:r>
              <a:rPr lang="hr-HR" sz="2400" dirty="0"/>
              <a:t>QR dekompozicija </a:t>
            </a:r>
          </a:p>
          <a:p>
            <a:r>
              <a:rPr lang="hr-HR" sz="2400" dirty="0"/>
              <a:t>Metoda inverznih iteracija </a:t>
            </a:r>
          </a:p>
          <a:p>
            <a:r>
              <a:rPr lang="hr-HR" sz="2400" dirty="0" err="1"/>
              <a:t>Schurova</a:t>
            </a:r>
            <a:r>
              <a:rPr lang="hr-HR" sz="2400" dirty="0"/>
              <a:t> forma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2E2637-9B74-D4D3-3293-D6972A5CC093}"/>
              </a:ext>
            </a:extLst>
          </p:cNvPr>
          <p:cNvSpPr txBox="1"/>
          <p:nvPr/>
        </p:nvSpPr>
        <p:spPr>
          <a:xfrm>
            <a:off x="838200" y="1690688"/>
            <a:ext cx="30824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800" dirty="0"/>
              <a:t>Matematički: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C6A6CE-4A3B-6F72-EB44-6E8FE06B5662}"/>
              </a:ext>
            </a:extLst>
          </p:cNvPr>
          <p:cNvSpPr txBox="1">
            <a:spLocks/>
          </p:cNvSpPr>
          <p:nvPr/>
        </p:nvSpPr>
        <p:spPr>
          <a:xfrm>
            <a:off x="6612193" y="2506662"/>
            <a:ext cx="49726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2400" dirty="0"/>
              <a:t>Qt biblioteka (GUI)</a:t>
            </a:r>
          </a:p>
          <a:p>
            <a:r>
              <a:rPr lang="hr-HR" sz="2400" dirty="0"/>
              <a:t>.</a:t>
            </a:r>
            <a:r>
              <a:rPr lang="hr-HR" sz="2400" dirty="0" err="1"/>
              <a:t>csv</a:t>
            </a:r>
            <a:r>
              <a:rPr lang="hr-HR" sz="2400" dirty="0"/>
              <a:t> čitač</a:t>
            </a:r>
          </a:p>
          <a:p>
            <a:endParaRPr lang="hr-HR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9F0B0F-0833-DF95-857A-9FA0AFE8A965}"/>
              </a:ext>
            </a:extLst>
          </p:cNvPr>
          <p:cNvSpPr txBox="1"/>
          <p:nvPr/>
        </p:nvSpPr>
        <p:spPr>
          <a:xfrm>
            <a:off x="6356554" y="1690688"/>
            <a:ext cx="33331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800" dirty="0"/>
              <a:t>Programski: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3B5B71-19ED-ECCB-2F47-B146B28AC330}"/>
              </a:ext>
            </a:extLst>
          </p:cNvPr>
          <p:cNvSpPr txBox="1"/>
          <p:nvPr/>
        </p:nvSpPr>
        <p:spPr>
          <a:xfrm>
            <a:off x="6356554" y="4286270"/>
            <a:ext cx="497266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4000" dirty="0"/>
              <a:t>Najbitniji: Skup podataka</a:t>
            </a:r>
          </a:p>
        </p:txBody>
      </p:sp>
    </p:spTree>
    <p:extLst>
      <p:ext uri="{BB962C8B-B14F-4D97-AF65-F5344CB8AC3E}">
        <p14:creationId xmlns:p14="http://schemas.microsoft.com/office/powerpoint/2010/main" val="3776213242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735191-ACC3-FA51-AEA2-DDFCAF61D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114923"/>
            <a:ext cx="4621553" cy="1360728"/>
          </a:xfrm>
        </p:spPr>
        <p:txBody>
          <a:bodyPr anchor="b">
            <a:normAutofit/>
          </a:bodyPr>
          <a:lstStyle/>
          <a:p>
            <a:r>
              <a:rPr lang="hr-HR" dirty="0" err="1"/>
              <a:t>Kriptovalute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B32935-2DA9-7756-1E7A-461F9BA30A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84058"/>
            <a:ext cx="4621553" cy="3159018"/>
          </a:xfrm>
        </p:spPr>
        <p:txBody>
          <a:bodyPr>
            <a:normAutofit/>
          </a:bodyPr>
          <a:lstStyle/>
          <a:p>
            <a:r>
              <a:rPr lang="hr-HR" sz="1800" dirty="0"/>
              <a:t>Financijski instrumenti</a:t>
            </a:r>
          </a:p>
          <a:p>
            <a:r>
              <a:rPr lang="hr-HR" sz="1800" dirty="0"/>
              <a:t>Izrazito </a:t>
            </a:r>
            <a:r>
              <a:rPr lang="hr-HR" sz="1800" dirty="0" err="1"/>
              <a:t>volatilne</a:t>
            </a:r>
            <a:r>
              <a:rPr lang="hr-HR" sz="1800" dirty="0"/>
              <a:t>, relativno nove, slabo regulirane</a:t>
            </a:r>
          </a:p>
          <a:p>
            <a:r>
              <a:rPr lang="hr-HR" sz="1800" dirty="0"/>
              <a:t>Dostupnost i povjerenje zahtjeva tehničku pozadinu (vrijednost nije samo platna moć nego distribuiranost, decentraliziranost, kriptografija)</a:t>
            </a:r>
          </a:p>
          <a:p>
            <a:r>
              <a:rPr lang="hr-HR" sz="1800" dirty="0"/>
              <a:t>Izrazito međusobno korelirane</a:t>
            </a:r>
          </a:p>
          <a:p>
            <a:endParaRPr lang="hr-HR" sz="1800" dirty="0"/>
          </a:p>
        </p:txBody>
      </p:sp>
      <p:pic>
        <p:nvPicPr>
          <p:cNvPr id="5" name="Picture 4" descr="A graph of stock prices&#10;&#10;AI-generated content may be incorrect.">
            <a:extLst>
              <a:ext uri="{FF2B5EF4-FFF2-40B4-BE49-F238E27FC236}">
                <a16:creationId xmlns:a16="http://schemas.microsoft.com/office/drawing/2014/main" id="{EB3424A8-4620-188B-D304-05E918AA1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1261" y="1954960"/>
            <a:ext cx="5837780" cy="29480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E7D7F4-9E29-A82C-1F5F-62EC42D8F46D}"/>
              </a:ext>
            </a:extLst>
          </p:cNvPr>
          <p:cNvSpPr txBox="1"/>
          <p:nvPr/>
        </p:nvSpPr>
        <p:spPr>
          <a:xfrm>
            <a:off x="5691261" y="5117690"/>
            <a:ext cx="5837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/>
              <a:t>Cijene Bitcoin-a tijekom 2025.</a:t>
            </a:r>
          </a:p>
        </p:txBody>
      </p:sp>
    </p:spTree>
    <p:extLst>
      <p:ext uri="{BB962C8B-B14F-4D97-AF65-F5344CB8AC3E}">
        <p14:creationId xmlns:p14="http://schemas.microsoft.com/office/powerpoint/2010/main" val="98441834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053C0-A515-B058-E8B6-98977F822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Aplikacija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9813C-BB96-7D93-07C9-404ECA30E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C++ - samostalna implementacija matematičkih objekata i operacija, Qt biblioteka za grafičko sučelje </a:t>
            </a:r>
          </a:p>
          <a:p>
            <a:r>
              <a:rPr lang="hr-HR" dirty="0"/>
              <a:t>Korisnik izabire </a:t>
            </a:r>
            <a:r>
              <a:rPr lang="hr-HR" dirty="0" err="1"/>
              <a:t>kriptovalute</a:t>
            </a:r>
            <a:r>
              <a:rPr lang="hr-HR" dirty="0"/>
              <a:t> i količine koje želi staviti u portfelj ili maknuti iz portfelja </a:t>
            </a:r>
          </a:p>
          <a:p>
            <a:r>
              <a:rPr lang="hr-HR" dirty="0"/>
              <a:t>Opcija 1: Monte Carlo simulacija -&gt; korisnik odabire broj simulacija i broj koraka -&gt; pregled simulacije -&gt; pregled distribucije i statističkih podataka te simulacije</a:t>
            </a:r>
          </a:p>
          <a:p>
            <a:r>
              <a:rPr lang="hr-HR" dirty="0"/>
              <a:t>Opcija 2: PCA </a:t>
            </a:r>
            <a:r>
              <a:rPr lang="hr-HR" dirty="0" err="1"/>
              <a:t>dekompozcija</a:t>
            </a:r>
            <a:r>
              <a:rPr lang="hr-HR" dirty="0"/>
              <a:t> -&gt; korisnik bira broj komponenti -&gt; grafički prikaz svake od komponenti -&gt; postotak objašnjene varijance svake komponente -&gt; optimalan svojstveni portfelj</a:t>
            </a:r>
          </a:p>
        </p:txBody>
      </p:sp>
    </p:spTree>
    <p:extLst>
      <p:ext uri="{BB962C8B-B14F-4D97-AF65-F5344CB8AC3E}">
        <p14:creationId xmlns:p14="http://schemas.microsoft.com/office/powerpoint/2010/main" val="1771121540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EDDE8-8FE5-E604-1AFD-FE95BD44A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r-HR"/>
          </a:p>
        </p:txBody>
      </p:sp>
      <p:pic>
        <p:nvPicPr>
          <p:cNvPr id="4" name="Final.mov">
            <a:hlinkClick r:id="" action="ppaction://media"/>
            <a:extLst>
              <a:ext uri="{FF2B5EF4-FFF2-40B4-BE49-F238E27FC236}">
                <a16:creationId xmlns:a16="http://schemas.microsoft.com/office/drawing/2014/main" id="{A363F553-F555-5C81-3FE3-EDD71390BD0C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8693158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789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78A674-E80B-C748-8863-E386E2676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114923"/>
            <a:ext cx="4621553" cy="1360728"/>
          </a:xfrm>
        </p:spPr>
        <p:txBody>
          <a:bodyPr anchor="b">
            <a:normAutofit/>
          </a:bodyPr>
          <a:lstStyle/>
          <a:p>
            <a:r>
              <a:rPr lang="hr-HR" dirty="0"/>
              <a:t>Ograničenja modela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FD2E8-5979-DBFA-A04E-D309089058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84058"/>
            <a:ext cx="4621553" cy="3159018"/>
          </a:xfrm>
        </p:spPr>
        <p:txBody>
          <a:bodyPr>
            <a:normAutofit/>
          </a:bodyPr>
          <a:lstStyle/>
          <a:p>
            <a:r>
              <a:rPr lang="hr-HR" sz="1800"/>
              <a:t>Model pretpostavlja konstantnu volatilnost, iako se mijenja kroz vrijeme </a:t>
            </a:r>
          </a:p>
          <a:p>
            <a:r>
              <a:rPr lang="hr-HR" sz="1800"/>
              <a:t>Ograničen je samo na povijesne podatke</a:t>
            </a:r>
          </a:p>
          <a:p>
            <a:r>
              <a:rPr lang="hr-HR" sz="1800"/>
              <a:t>Moguće unaprijediti s analizom sentimenta, analiza kompleksnih mreža i grafova društva, praćenjem regulativa i promjena kreditnih rejtinga</a:t>
            </a:r>
          </a:p>
          <a:p>
            <a:r>
              <a:rPr lang="hr-HR" sz="1800"/>
              <a:t>Uzima u obzir samo povijesnu srednju vrijednost i standardnu devijaciju</a:t>
            </a:r>
          </a:p>
          <a:p>
            <a:r>
              <a:rPr lang="hr-HR" sz="1800"/>
              <a:t>Stohastička slučajna šetnja </a:t>
            </a:r>
          </a:p>
          <a:p>
            <a:endParaRPr lang="hr-HR" sz="1800"/>
          </a:p>
        </p:txBody>
      </p:sp>
      <p:pic>
        <p:nvPicPr>
          <p:cNvPr id="5" name="Picture 4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4E2089D7-B186-216E-977A-D25F2E296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1261" y="1502533"/>
            <a:ext cx="5837780" cy="38529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8E244F7-A645-2A4A-D657-76499BEE3B15}"/>
              </a:ext>
            </a:extLst>
          </p:cNvPr>
          <p:cNvSpPr txBox="1"/>
          <p:nvPr/>
        </p:nvSpPr>
        <p:spPr>
          <a:xfrm>
            <a:off x="6566472" y="5506568"/>
            <a:ext cx="42932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400" b="1" dirty="0"/>
              <a:t>Veliku i naglu volatilnost je izrazito teško modelirati stohastičkim alatima </a:t>
            </a:r>
          </a:p>
        </p:txBody>
      </p:sp>
    </p:spTree>
    <p:extLst>
      <p:ext uri="{BB962C8B-B14F-4D97-AF65-F5344CB8AC3E}">
        <p14:creationId xmlns:p14="http://schemas.microsoft.com/office/powerpoint/2010/main" val="3285547326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74434-9A4D-60F5-9D83-825F73692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Ishodi i rezultati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DB45F-ED4F-F1DE-6BBC-6BE1BF891F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Aplikacija + modularna biblioteka za financijsko modeliranje </a:t>
            </a:r>
          </a:p>
          <a:p>
            <a:r>
              <a:rPr lang="hr-HR" dirty="0"/>
              <a:t>Učenje numeričkih, stohastičkih i statističkih metoda</a:t>
            </a:r>
          </a:p>
          <a:p>
            <a:r>
              <a:rPr lang="hr-HR" dirty="0"/>
              <a:t>„Svi modeli su krivi, ali neki su korisni” – G. E. P. </a:t>
            </a:r>
            <a:r>
              <a:rPr lang="hr-HR" dirty="0" err="1"/>
              <a:t>Box</a:t>
            </a:r>
            <a:endParaRPr lang="hr-HR" dirty="0"/>
          </a:p>
          <a:p>
            <a:r>
              <a:rPr lang="hr-HR" dirty="0"/>
              <a:t>Predviđanje kretanja cijena je ogroman dinamički sustav sa bezbroj faktora koji utječu na ishod – odabir modela je ključan za pojednostavljenje i </a:t>
            </a:r>
            <a:r>
              <a:rPr lang="hr-HR" dirty="0" err="1"/>
              <a:t>interpretabilnost</a:t>
            </a:r>
            <a:r>
              <a:rPr lang="hr-HR" dirty="0"/>
              <a:t> – gubimo dio informacija</a:t>
            </a:r>
          </a:p>
          <a:p>
            <a:r>
              <a:rPr lang="hr-HR" dirty="0"/>
              <a:t>Moguće nadogradnje: optimizacija numeričkih algoritama, dohvaćanje većeg broja informacija (u realnom vremenu), beskonačne mogućnosti dodavanja novih modela</a:t>
            </a:r>
          </a:p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076056326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F4B5A-2B28-5714-53FC-17B825F2B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9736" y="2766218"/>
            <a:ext cx="10515600" cy="1325563"/>
          </a:xfrm>
        </p:spPr>
        <p:txBody>
          <a:bodyPr>
            <a:normAutofit/>
          </a:bodyPr>
          <a:lstStyle/>
          <a:p>
            <a:r>
              <a:rPr lang="hr-HR" sz="5500" dirty="0"/>
              <a:t>Hvala na pažnji!</a:t>
            </a:r>
          </a:p>
        </p:txBody>
      </p:sp>
    </p:spTree>
    <p:extLst>
      <p:ext uri="{BB962C8B-B14F-4D97-AF65-F5344CB8AC3E}">
        <p14:creationId xmlns:p14="http://schemas.microsoft.com/office/powerpoint/2010/main" val="1614910741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1669</TotalTime>
  <Words>641</Words>
  <Application>Microsoft Macintosh PowerPoint</Application>
  <PresentationFormat>Widescreen</PresentationFormat>
  <Paragraphs>85</Paragraphs>
  <Slides>15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Razvoj aplikacije za procjenu rizika u investicijskim portfeljima uz pomoć Monte Carlo simulacija</vt:lpstr>
      <vt:lpstr>Financijski instrumenti</vt:lpstr>
      <vt:lpstr>Investicijski portfelj</vt:lpstr>
      <vt:lpstr>Modeliranje portfelja? Predviđanje buduće vrijednosti?</vt:lpstr>
      <vt:lpstr>Povrati </vt:lpstr>
      <vt:lpstr>Rizik</vt:lpstr>
      <vt:lpstr>Monte Carlo simulacije, Geometrijsko Brownovo gibanje</vt:lpstr>
      <vt:lpstr>PCA dekompozicija </vt:lpstr>
      <vt:lpstr>Dodatni alati</vt:lpstr>
      <vt:lpstr>Kriptovalute</vt:lpstr>
      <vt:lpstr>Aplikacija</vt:lpstr>
      <vt:lpstr>PowerPoint Presentation</vt:lpstr>
      <vt:lpstr>Ograničenja modela </vt:lpstr>
      <vt:lpstr>Ishodi i rezultati</vt:lpstr>
      <vt:lpstr>Hvala na pažnji!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Džanija</dc:creator>
  <cp:lastModifiedBy>Ivan Džanija</cp:lastModifiedBy>
  <cp:revision>5</cp:revision>
  <dcterms:created xsi:type="dcterms:W3CDTF">2025-07-08T17:14:42Z</dcterms:created>
  <dcterms:modified xsi:type="dcterms:W3CDTF">2025-07-09T22:28:43Z</dcterms:modified>
</cp:coreProperties>
</file>