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2" r:id="rId1"/>
  </p:sldMasterIdLst>
  <p:notesMasterIdLst>
    <p:notesMasterId r:id="rId18"/>
  </p:notesMasterIdLst>
  <p:sldIdLst>
    <p:sldId id="256" r:id="rId2"/>
    <p:sldId id="271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3" r:id="rId11"/>
    <p:sldId id="266" r:id="rId12"/>
    <p:sldId id="265" r:id="rId13"/>
    <p:sldId id="267" r:id="rId14"/>
    <p:sldId id="269" r:id="rId15"/>
    <p:sldId id="268" r:id="rId16"/>
    <p:sldId id="270" r:id="rId17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05"/>
    <p:restoredTop sz="94688"/>
  </p:normalViewPr>
  <p:slideViewPr>
    <p:cSldViewPr snapToGrid="0">
      <p:cViewPr varScale="1">
        <p:scale>
          <a:sx n="41" d="100"/>
          <a:sy n="41" d="100"/>
        </p:scale>
        <p:origin x="160" y="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H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Udjeli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1A-8C45-9BB5-3F5F6C7B47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B1A-8C45-9BB5-3F5F6C7B47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B1A-8C45-9BB5-3F5F6C7B47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B1A-8C45-9BB5-3F5F6C7B4781}"/>
              </c:ext>
            </c:extLst>
          </c:dPt>
          <c:cat>
            <c:strRef>
              <c:f>Sheet1!$A$2:$A$5</c:f>
              <c:strCache>
                <c:ptCount val="4"/>
                <c:pt idx="0">
                  <c:v>AAPL</c:v>
                </c:pt>
                <c:pt idx="1">
                  <c:v>TSLA</c:v>
                </c:pt>
                <c:pt idx="2">
                  <c:v>MSFT</c:v>
                </c:pt>
                <c:pt idx="3">
                  <c:v>GLD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0-E646-A3F5-E76F7163C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H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34D058-A90B-4C2E-88CB-3453D0FC77D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BDD938-4A5A-432C-91FC-36ED6A571094}">
      <dgm:prSet/>
      <dgm:spPr/>
      <dgm:t>
        <a:bodyPr/>
        <a:lstStyle/>
        <a:p>
          <a:r>
            <a:rPr lang="hr-HR"/>
            <a:t>Financijski instrumenti i investicije</a:t>
          </a:r>
          <a:endParaRPr lang="en-US"/>
        </a:p>
      </dgm:t>
    </dgm:pt>
    <dgm:pt modelId="{AA881058-2C42-4727-A6C1-347FAA48B59D}" type="parTrans" cxnId="{ED775824-7421-44C2-B123-2034B67321C0}">
      <dgm:prSet/>
      <dgm:spPr/>
      <dgm:t>
        <a:bodyPr/>
        <a:lstStyle/>
        <a:p>
          <a:endParaRPr lang="en-US"/>
        </a:p>
      </dgm:t>
    </dgm:pt>
    <dgm:pt modelId="{9588EDB8-D808-4F4C-AB2B-5DBF99CA4346}" type="sibTrans" cxnId="{ED775824-7421-44C2-B123-2034B67321C0}">
      <dgm:prSet/>
      <dgm:spPr/>
      <dgm:t>
        <a:bodyPr/>
        <a:lstStyle/>
        <a:p>
          <a:endParaRPr lang="en-US"/>
        </a:p>
      </dgm:t>
    </dgm:pt>
    <dgm:pt modelId="{1401F4E1-BF6C-464D-8460-392DE3168C7B}">
      <dgm:prSet/>
      <dgm:spPr/>
      <dgm:t>
        <a:bodyPr/>
        <a:lstStyle/>
        <a:p>
          <a:r>
            <a:rPr lang="hr-HR"/>
            <a:t>Modeliranje portfelja</a:t>
          </a:r>
          <a:endParaRPr lang="en-US"/>
        </a:p>
      </dgm:t>
    </dgm:pt>
    <dgm:pt modelId="{B9D78253-4624-405B-AFAA-CB30D3C403BF}" type="parTrans" cxnId="{38CA30E6-CD6A-4857-A68F-15D2FE8A18F8}">
      <dgm:prSet/>
      <dgm:spPr/>
      <dgm:t>
        <a:bodyPr/>
        <a:lstStyle/>
        <a:p>
          <a:endParaRPr lang="en-US"/>
        </a:p>
      </dgm:t>
    </dgm:pt>
    <dgm:pt modelId="{41936D6D-7050-49F6-B081-CC7089232E42}" type="sibTrans" cxnId="{38CA30E6-CD6A-4857-A68F-15D2FE8A18F8}">
      <dgm:prSet/>
      <dgm:spPr/>
      <dgm:t>
        <a:bodyPr/>
        <a:lstStyle/>
        <a:p>
          <a:endParaRPr lang="en-US"/>
        </a:p>
      </dgm:t>
    </dgm:pt>
    <dgm:pt modelId="{CD91B1F3-E0B4-45D9-BB0E-A316F1E22900}">
      <dgm:prSet/>
      <dgm:spPr/>
      <dgm:t>
        <a:bodyPr/>
        <a:lstStyle/>
        <a:p>
          <a:r>
            <a:rPr lang="hr-HR"/>
            <a:t>Povrati, profit i rizik</a:t>
          </a:r>
          <a:endParaRPr lang="en-US"/>
        </a:p>
      </dgm:t>
    </dgm:pt>
    <dgm:pt modelId="{BCBF6804-ED0D-4737-A1CA-CC35BEB25398}" type="parTrans" cxnId="{3ACCCF9D-B93D-4CFA-AA82-16C1A61E3C14}">
      <dgm:prSet/>
      <dgm:spPr/>
      <dgm:t>
        <a:bodyPr/>
        <a:lstStyle/>
        <a:p>
          <a:endParaRPr lang="en-US"/>
        </a:p>
      </dgm:t>
    </dgm:pt>
    <dgm:pt modelId="{B47504D3-0F4F-4F52-9CD5-36AB0916EEF8}" type="sibTrans" cxnId="{3ACCCF9D-B93D-4CFA-AA82-16C1A61E3C14}">
      <dgm:prSet/>
      <dgm:spPr/>
      <dgm:t>
        <a:bodyPr/>
        <a:lstStyle/>
        <a:p>
          <a:endParaRPr lang="en-US"/>
        </a:p>
      </dgm:t>
    </dgm:pt>
    <dgm:pt modelId="{D79A5A23-585E-45DC-8596-3E8BEA75BD9D}">
      <dgm:prSet/>
      <dgm:spPr/>
      <dgm:t>
        <a:bodyPr/>
        <a:lstStyle/>
        <a:p>
          <a:r>
            <a:rPr lang="hr-HR"/>
            <a:t>Simulacije </a:t>
          </a:r>
          <a:endParaRPr lang="en-US"/>
        </a:p>
      </dgm:t>
    </dgm:pt>
    <dgm:pt modelId="{A4AF910D-F368-438F-A386-920770D49A7E}" type="parTrans" cxnId="{E0CE8A99-4BFE-4254-898D-D2254C848C4F}">
      <dgm:prSet/>
      <dgm:spPr/>
      <dgm:t>
        <a:bodyPr/>
        <a:lstStyle/>
        <a:p>
          <a:endParaRPr lang="en-US"/>
        </a:p>
      </dgm:t>
    </dgm:pt>
    <dgm:pt modelId="{65BB5C6A-57D7-4FDC-85B5-2E73843F69E1}" type="sibTrans" cxnId="{E0CE8A99-4BFE-4254-898D-D2254C848C4F}">
      <dgm:prSet/>
      <dgm:spPr/>
      <dgm:t>
        <a:bodyPr/>
        <a:lstStyle/>
        <a:p>
          <a:endParaRPr lang="en-US"/>
        </a:p>
      </dgm:t>
    </dgm:pt>
    <dgm:pt modelId="{1D59C3A3-6E3F-4C02-AB86-AEF92E884F9A}">
      <dgm:prSet/>
      <dgm:spPr/>
      <dgm:t>
        <a:bodyPr/>
        <a:lstStyle/>
        <a:p>
          <a:r>
            <a:rPr lang="hr-HR"/>
            <a:t>Slaganje portfelja</a:t>
          </a:r>
          <a:endParaRPr lang="en-US"/>
        </a:p>
      </dgm:t>
    </dgm:pt>
    <dgm:pt modelId="{E7FF2DCA-4EE8-4550-8DCE-FA9E0FF08BA8}" type="parTrans" cxnId="{98BCECB9-DD99-49DF-8E59-9DE41E4B48BE}">
      <dgm:prSet/>
      <dgm:spPr/>
      <dgm:t>
        <a:bodyPr/>
        <a:lstStyle/>
        <a:p>
          <a:endParaRPr lang="en-US"/>
        </a:p>
      </dgm:t>
    </dgm:pt>
    <dgm:pt modelId="{D26049A7-14BE-4EB0-B9AD-64DA7D0D07C1}" type="sibTrans" cxnId="{98BCECB9-DD99-49DF-8E59-9DE41E4B48BE}">
      <dgm:prSet/>
      <dgm:spPr/>
      <dgm:t>
        <a:bodyPr/>
        <a:lstStyle/>
        <a:p>
          <a:endParaRPr lang="en-US"/>
        </a:p>
      </dgm:t>
    </dgm:pt>
    <dgm:pt modelId="{88E9F89E-4B1F-4577-AB87-F16F9452BD49}">
      <dgm:prSet/>
      <dgm:spPr/>
      <dgm:t>
        <a:bodyPr/>
        <a:lstStyle/>
        <a:p>
          <a:r>
            <a:rPr lang="hr-HR"/>
            <a:t>Kriptovalute</a:t>
          </a:r>
          <a:endParaRPr lang="en-US"/>
        </a:p>
      </dgm:t>
    </dgm:pt>
    <dgm:pt modelId="{786A0BA6-09B6-4E78-ACBA-92DD25E1B5C1}" type="parTrans" cxnId="{6BDCC9D3-7763-415F-A93F-4FBED6DF1C1F}">
      <dgm:prSet/>
      <dgm:spPr/>
      <dgm:t>
        <a:bodyPr/>
        <a:lstStyle/>
        <a:p>
          <a:endParaRPr lang="en-US"/>
        </a:p>
      </dgm:t>
    </dgm:pt>
    <dgm:pt modelId="{8B553AA9-E056-48B7-A686-D7E05BA0538C}" type="sibTrans" cxnId="{6BDCC9D3-7763-415F-A93F-4FBED6DF1C1F}">
      <dgm:prSet/>
      <dgm:spPr/>
      <dgm:t>
        <a:bodyPr/>
        <a:lstStyle/>
        <a:p>
          <a:endParaRPr lang="en-US"/>
        </a:p>
      </dgm:t>
    </dgm:pt>
    <dgm:pt modelId="{D3DE0B45-088F-4AD3-ABF8-D1B46F30BB80}">
      <dgm:prSet/>
      <dgm:spPr/>
      <dgm:t>
        <a:bodyPr/>
        <a:lstStyle/>
        <a:p>
          <a:r>
            <a:rPr lang="hr-HR"/>
            <a:t>Aplikacija</a:t>
          </a:r>
          <a:endParaRPr lang="en-US"/>
        </a:p>
      </dgm:t>
    </dgm:pt>
    <dgm:pt modelId="{FD62159F-7C6D-4F69-BD7E-CBE805AB2610}" type="parTrans" cxnId="{5F72FC90-03FC-48E1-B7A1-AD0954B6F1FF}">
      <dgm:prSet/>
      <dgm:spPr/>
      <dgm:t>
        <a:bodyPr/>
        <a:lstStyle/>
        <a:p>
          <a:endParaRPr lang="en-US"/>
        </a:p>
      </dgm:t>
    </dgm:pt>
    <dgm:pt modelId="{859F4938-AC57-4AC6-A8A9-8079CD629F87}" type="sibTrans" cxnId="{5F72FC90-03FC-48E1-B7A1-AD0954B6F1FF}">
      <dgm:prSet/>
      <dgm:spPr/>
      <dgm:t>
        <a:bodyPr/>
        <a:lstStyle/>
        <a:p>
          <a:endParaRPr lang="en-US"/>
        </a:p>
      </dgm:t>
    </dgm:pt>
    <dgm:pt modelId="{563C6EE4-F29A-44C2-A294-295FF8F547E3}">
      <dgm:prSet/>
      <dgm:spPr/>
      <dgm:t>
        <a:bodyPr/>
        <a:lstStyle/>
        <a:p>
          <a:r>
            <a:rPr lang="hr-HR"/>
            <a:t>Rasprava</a:t>
          </a:r>
          <a:endParaRPr lang="en-US"/>
        </a:p>
      </dgm:t>
    </dgm:pt>
    <dgm:pt modelId="{C2C6C39F-E868-4290-BA57-C9A1550E6CDF}" type="parTrans" cxnId="{94F8CAA7-940A-44D4-95B5-30891590897A}">
      <dgm:prSet/>
      <dgm:spPr/>
      <dgm:t>
        <a:bodyPr/>
        <a:lstStyle/>
        <a:p>
          <a:endParaRPr lang="en-US"/>
        </a:p>
      </dgm:t>
    </dgm:pt>
    <dgm:pt modelId="{64BBC6B1-6645-4185-965F-262591273BF3}" type="sibTrans" cxnId="{94F8CAA7-940A-44D4-95B5-30891590897A}">
      <dgm:prSet/>
      <dgm:spPr/>
      <dgm:t>
        <a:bodyPr/>
        <a:lstStyle/>
        <a:p>
          <a:endParaRPr lang="en-US"/>
        </a:p>
      </dgm:t>
    </dgm:pt>
    <dgm:pt modelId="{E98234C0-F0FA-484E-A63F-3B9D69E91843}" type="pres">
      <dgm:prSet presAssocID="{9B34D058-A90B-4C2E-88CB-3453D0FC77DE}" presName="Name0" presStyleCnt="0">
        <dgm:presLayoutVars>
          <dgm:dir/>
          <dgm:animLvl val="lvl"/>
          <dgm:resizeHandles val="exact"/>
        </dgm:presLayoutVars>
      </dgm:prSet>
      <dgm:spPr/>
    </dgm:pt>
    <dgm:pt modelId="{51327BC1-EA4D-8847-8EDE-9A8E72B66246}" type="pres">
      <dgm:prSet presAssocID="{17BDD938-4A5A-432C-91FC-36ED6A571094}" presName="linNode" presStyleCnt="0"/>
      <dgm:spPr/>
    </dgm:pt>
    <dgm:pt modelId="{28427FE5-B6E5-8541-8099-66C08A436098}" type="pres">
      <dgm:prSet presAssocID="{17BDD938-4A5A-432C-91FC-36ED6A57109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C202D1EA-9BC0-A547-BF07-7898275B732C}" type="pres">
      <dgm:prSet presAssocID="{9588EDB8-D808-4F4C-AB2B-5DBF99CA4346}" presName="sp" presStyleCnt="0"/>
      <dgm:spPr/>
    </dgm:pt>
    <dgm:pt modelId="{1040C173-DB05-044D-8CAC-89E51E1AE5B2}" type="pres">
      <dgm:prSet presAssocID="{1401F4E1-BF6C-464D-8460-392DE3168C7B}" presName="linNode" presStyleCnt="0"/>
      <dgm:spPr/>
    </dgm:pt>
    <dgm:pt modelId="{CA5C4D34-C212-A64E-86E1-98BA8AEBE6C6}" type="pres">
      <dgm:prSet presAssocID="{1401F4E1-BF6C-464D-8460-392DE3168C7B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34FC6341-9360-5640-9844-78B86EFBDA1D}" type="pres">
      <dgm:prSet presAssocID="{41936D6D-7050-49F6-B081-CC7089232E42}" presName="sp" presStyleCnt="0"/>
      <dgm:spPr/>
    </dgm:pt>
    <dgm:pt modelId="{723ABA2D-51E7-D44C-B950-BDBF5118DAD4}" type="pres">
      <dgm:prSet presAssocID="{CD91B1F3-E0B4-45D9-BB0E-A316F1E22900}" presName="linNode" presStyleCnt="0"/>
      <dgm:spPr/>
    </dgm:pt>
    <dgm:pt modelId="{95520D2D-CF12-DD44-B88E-95C32580A2C9}" type="pres">
      <dgm:prSet presAssocID="{CD91B1F3-E0B4-45D9-BB0E-A316F1E22900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68E4054-5A2E-B942-8FC6-ECAB705C70C0}" type="pres">
      <dgm:prSet presAssocID="{B47504D3-0F4F-4F52-9CD5-36AB0916EEF8}" presName="sp" presStyleCnt="0"/>
      <dgm:spPr/>
    </dgm:pt>
    <dgm:pt modelId="{180EE395-6545-134E-B43A-E2651AE66830}" type="pres">
      <dgm:prSet presAssocID="{D79A5A23-585E-45DC-8596-3E8BEA75BD9D}" presName="linNode" presStyleCnt="0"/>
      <dgm:spPr/>
    </dgm:pt>
    <dgm:pt modelId="{74E43F8D-9CB9-D847-8766-7735E681C42B}" type="pres">
      <dgm:prSet presAssocID="{D79A5A23-585E-45DC-8596-3E8BEA75BD9D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05D2B073-BADA-D249-87FB-D46A935494A7}" type="pres">
      <dgm:prSet presAssocID="{65BB5C6A-57D7-4FDC-85B5-2E73843F69E1}" presName="sp" presStyleCnt="0"/>
      <dgm:spPr/>
    </dgm:pt>
    <dgm:pt modelId="{4A3F5572-D502-F341-AEF6-D76790F2392D}" type="pres">
      <dgm:prSet presAssocID="{1D59C3A3-6E3F-4C02-AB86-AEF92E884F9A}" presName="linNode" presStyleCnt="0"/>
      <dgm:spPr/>
    </dgm:pt>
    <dgm:pt modelId="{84C03F11-EA55-994F-936D-A53B03D3EC91}" type="pres">
      <dgm:prSet presAssocID="{1D59C3A3-6E3F-4C02-AB86-AEF92E884F9A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1D79F18D-1E15-7143-884C-7F0FBF5472A9}" type="pres">
      <dgm:prSet presAssocID="{D26049A7-14BE-4EB0-B9AD-64DA7D0D07C1}" presName="sp" presStyleCnt="0"/>
      <dgm:spPr/>
    </dgm:pt>
    <dgm:pt modelId="{62AC7199-0481-5542-931E-5D0FC32B3632}" type="pres">
      <dgm:prSet presAssocID="{88E9F89E-4B1F-4577-AB87-F16F9452BD49}" presName="linNode" presStyleCnt="0"/>
      <dgm:spPr/>
    </dgm:pt>
    <dgm:pt modelId="{C6A3E3E0-6440-0D43-9E76-DF5C6E6DB779}" type="pres">
      <dgm:prSet presAssocID="{88E9F89E-4B1F-4577-AB87-F16F9452BD49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A544384F-E383-1941-941F-185F5048847F}" type="pres">
      <dgm:prSet presAssocID="{8B553AA9-E056-48B7-A686-D7E05BA0538C}" presName="sp" presStyleCnt="0"/>
      <dgm:spPr/>
    </dgm:pt>
    <dgm:pt modelId="{065EF81B-B1AB-EC4A-A49D-0CEF1EBE395C}" type="pres">
      <dgm:prSet presAssocID="{D3DE0B45-088F-4AD3-ABF8-D1B46F30BB80}" presName="linNode" presStyleCnt="0"/>
      <dgm:spPr/>
    </dgm:pt>
    <dgm:pt modelId="{FF6AB7D5-BC32-A64C-B9DC-C932FD42CED1}" type="pres">
      <dgm:prSet presAssocID="{D3DE0B45-088F-4AD3-ABF8-D1B46F30BB80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C0AAE763-D768-CD4B-BD90-E1A5B043F2A5}" type="pres">
      <dgm:prSet presAssocID="{859F4938-AC57-4AC6-A8A9-8079CD629F87}" presName="sp" presStyleCnt="0"/>
      <dgm:spPr/>
    </dgm:pt>
    <dgm:pt modelId="{07F45A5F-22C6-0948-B669-1706A13692F4}" type="pres">
      <dgm:prSet presAssocID="{563C6EE4-F29A-44C2-A294-295FF8F547E3}" presName="linNode" presStyleCnt="0"/>
      <dgm:spPr/>
    </dgm:pt>
    <dgm:pt modelId="{25F23AAA-9DF1-8B4C-83FB-E51C03D12572}" type="pres">
      <dgm:prSet presAssocID="{563C6EE4-F29A-44C2-A294-295FF8F547E3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84E19915-5E32-9B4A-8DCA-687E8A5B3808}" type="presOf" srcId="{9B34D058-A90B-4C2E-88CB-3453D0FC77DE}" destId="{E98234C0-F0FA-484E-A63F-3B9D69E91843}" srcOrd="0" destOrd="0" presId="urn:microsoft.com/office/officeart/2005/8/layout/vList5"/>
    <dgm:cxn modelId="{ED775824-7421-44C2-B123-2034B67321C0}" srcId="{9B34D058-A90B-4C2E-88CB-3453D0FC77DE}" destId="{17BDD938-4A5A-432C-91FC-36ED6A571094}" srcOrd="0" destOrd="0" parTransId="{AA881058-2C42-4727-A6C1-347FAA48B59D}" sibTransId="{9588EDB8-D808-4F4C-AB2B-5DBF99CA4346}"/>
    <dgm:cxn modelId="{97065328-E2B8-1742-95C7-496F0345DAD4}" type="presOf" srcId="{D3DE0B45-088F-4AD3-ABF8-D1B46F30BB80}" destId="{FF6AB7D5-BC32-A64C-B9DC-C932FD42CED1}" srcOrd="0" destOrd="0" presId="urn:microsoft.com/office/officeart/2005/8/layout/vList5"/>
    <dgm:cxn modelId="{7C9E542A-1C1F-2C4C-B8E3-A1B7EE86C236}" type="presOf" srcId="{1D59C3A3-6E3F-4C02-AB86-AEF92E884F9A}" destId="{84C03F11-EA55-994F-936D-A53B03D3EC91}" srcOrd="0" destOrd="0" presId="urn:microsoft.com/office/officeart/2005/8/layout/vList5"/>
    <dgm:cxn modelId="{BDCC5F55-EAE3-2543-9215-9A0F098901FD}" type="presOf" srcId="{17BDD938-4A5A-432C-91FC-36ED6A571094}" destId="{28427FE5-B6E5-8541-8099-66C08A436098}" srcOrd="0" destOrd="0" presId="urn:microsoft.com/office/officeart/2005/8/layout/vList5"/>
    <dgm:cxn modelId="{9702C467-1A87-A441-8FFB-E8C0602C6D6D}" type="presOf" srcId="{D79A5A23-585E-45DC-8596-3E8BEA75BD9D}" destId="{74E43F8D-9CB9-D847-8766-7735E681C42B}" srcOrd="0" destOrd="0" presId="urn:microsoft.com/office/officeart/2005/8/layout/vList5"/>
    <dgm:cxn modelId="{5F72FC90-03FC-48E1-B7A1-AD0954B6F1FF}" srcId="{9B34D058-A90B-4C2E-88CB-3453D0FC77DE}" destId="{D3DE0B45-088F-4AD3-ABF8-D1B46F30BB80}" srcOrd="6" destOrd="0" parTransId="{FD62159F-7C6D-4F69-BD7E-CBE805AB2610}" sibTransId="{859F4938-AC57-4AC6-A8A9-8079CD629F87}"/>
    <dgm:cxn modelId="{E0CE8A99-4BFE-4254-898D-D2254C848C4F}" srcId="{9B34D058-A90B-4C2E-88CB-3453D0FC77DE}" destId="{D79A5A23-585E-45DC-8596-3E8BEA75BD9D}" srcOrd="3" destOrd="0" parTransId="{A4AF910D-F368-438F-A386-920770D49A7E}" sibTransId="{65BB5C6A-57D7-4FDC-85B5-2E73843F69E1}"/>
    <dgm:cxn modelId="{92A9DD9A-D26C-D347-B14A-D8C5FDB86D4C}" type="presOf" srcId="{1401F4E1-BF6C-464D-8460-392DE3168C7B}" destId="{CA5C4D34-C212-A64E-86E1-98BA8AEBE6C6}" srcOrd="0" destOrd="0" presId="urn:microsoft.com/office/officeart/2005/8/layout/vList5"/>
    <dgm:cxn modelId="{3ACCCF9D-B93D-4CFA-AA82-16C1A61E3C14}" srcId="{9B34D058-A90B-4C2E-88CB-3453D0FC77DE}" destId="{CD91B1F3-E0B4-45D9-BB0E-A316F1E22900}" srcOrd="2" destOrd="0" parTransId="{BCBF6804-ED0D-4737-A1CA-CC35BEB25398}" sibTransId="{B47504D3-0F4F-4F52-9CD5-36AB0916EEF8}"/>
    <dgm:cxn modelId="{94F8CAA7-940A-44D4-95B5-30891590897A}" srcId="{9B34D058-A90B-4C2E-88CB-3453D0FC77DE}" destId="{563C6EE4-F29A-44C2-A294-295FF8F547E3}" srcOrd="7" destOrd="0" parTransId="{C2C6C39F-E868-4290-BA57-C9A1550E6CDF}" sibTransId="{64BBC6B1-6645-4185-965F-262591273BF3}"/>
    <dgm:cxn modelId="{C2467EA9-EE9D-8D4C-9C8C-474BCFE3BA8B}" type="presOf" srcId="{563C6EE4-F29A-44C2-A294-295FF8F547E3}" destId="{25F23AAA-9DF1-8B4C-83FB-E51C03D12572}" srcOrd="0" destOrd="0" presId="urn:microsoft.com/office/officeart/2005/8/layout/vList5"/>
    <dgm:cxn modelId="{98BCECB9-DD99-49DF-8E59-9DE41E4B48BE}" srcId="{9B34D058-A90B-4C2E-88CB-3453D0FC77DE}" destId="{1D59C3A3-6E3F-4C02-AB86-AEF92E884F9A}" srcOrd="4" destOrd="0" parTransId="{E7FF2DCA-4EE8-4550-8DCE-FA9E0FF08BA8}" sibTransId="{D26049A7-14BE-4EB0-B9AD-64DA7D0D07C1}"/>
    <dgm:cxn modelId="{6BDCC9D3-7763-415F-A93F-4FBED6DF1C1F}" srcId="{9B34D058-A90B-4C2E-88CB-3453D0FC77DE}" destId="{88E9F89E-4B1F-4577-AB87-F16F9452BD49}" srcOrd="5" destOrd="0" parTransId="{786A0BA6-09B6-4E78-ACBA-92DD25E1B5C1}" sibTransId="{8B553AA9-E056-48B7-A686-D7E05BA0538C}"/>
    <dgm:cxn modelId="{18E865DD-AE2C-944D-A8BE-D2E4BE6FFC15}" type="presOf" srcId="{CD91B1F3-E0B4-45D9-BB0E-A316F1E22900}" destId="{95520D2D-CF12-DD44-B88E-95C32580A2C9}" srcOrd="0" destOrd="0" presId="urn:microsoft.com/office/officeart/2005/8/layout/vList5"/>
    <dgm:cxn modelId="{38CA30E6-CD6A-4857-A68F-15D2FE8A18F8}" srcId="{9B34D058-A90B-4C2E-88CB-3453D0FC77DE}" destId="{1401F4E1-BF6C-464D-8460-392DE3168C7B}" srcOrd="1" destOrd="0" parTransId="{B9D78253-4624-405B-AFAA-CB30D3C403BF}" sibTransId="{41936D6D-7050-49F6-B081-CC7089232E42}"/>
    <dgm:cxn modelId="{80FCC9FA-C52B-4B45-832B-875D5E0A219C}" type="presOf" srcId="{88E9F89E-4B1F-4577-AB87-F16F9452BD49}" destId="{C6A3E3E0-6440-0D43-9E76-DF5C6E6DB779}" srcOrd="0" destOrd="0" presId="urn:microsoft.com/office/officeart/2005/8/layout/vList5"/>
    <dgm:cxn modelId="{DCAE419D-825E-7243-A67B-73E757840CE6}" type="presParOf" srcId="{E98234C0-F0FA-484E-A63F-3B9D69E91843}" destId="{51327BC1-EA4D-8847-8EDE-9A8E72B66246}" srcOrd="0" destOrd="0" presId="urn:microsoft.com/office/officeart/2005/8/layout/vList5"/>
    <dgm:cxn modelId="{589D6A59-CE30-A045-81DF-9715B4093774}" type="presParOf" srcId="{51327BC1-EA4D-8847-8EDE-9A8E72B66246}" destId="{28427FE5-B6E5-8541-8099-66C08A436098}" srcOrd="0" destOrd="0" presId="urn:microsoft.com/office/officeart/2005/8/layout/vList5"/>
    <dgm:cxn modelId="{552E4669-8DA3-C544-8C74-13360DB87AED}" type="presParOf" srcId="{E98234C0-F0FA-484E-A63F-3B9D69E91843}" destId="{C202D1EA-9BC0-A547-BF07-7898275B732C}" srcOrd="1" destOrd="0" presId="urn:microsoft.com/office/officeart/2005/8/layout/vList5"/>
    <dgm:cxn modelId="{03344355-284D-E041-9A7E-BA80F37686C5}" type="presParOf" srcId="{E98234C0-F0FA-484E-A63F-3B9D69E91843}" destId="{1040C173-DB05-044D-8CAC-89E51E1AE5B2}" srcOrd="2" destOrd="0" presId="urn:microsoft.com/office/officeart/2005/8/layout/vList5"/>
    <dgm:cxn modelId="{C760F047-FF45-8149-8783-4F95E5DCE3E8}" type="presParOf" srcId="{1040C173-DB05-044D-8CAC-89E51E1AE5B2}" destId="{CA5C4D34-C212-A64E-86E1-98BA8AEBE6C6}" srcOrd="0" destOrd="0" presId="urn:microsoft.com/office/officeart/2005/8/layout/vList5"/>
    <dgm:cxn modelId="{C5C2B1EA-7D70-2949-AA7E-CE37072CA605}" type="presParOf" srcId="{E98234C0-F0FA-484E-A63F-3B9D69E91843}" destId="{34FC6341-9360-5640-9844-78B86EFBDA1D}" srcOrd="3" destOrd="0" presId="urn:microsoft.com/office/officeart/2005/8/layout/vList5"/>
    <dgm:cxn modelId="{F696EFFC-07B3-ED43-A13E-CB72C632ED6B}" type="presParOf" srcId="{E98234C0-F0FA-484E-A63F-3B9D69E91843}" destId="{723ABA2D-51E7-D44C-B950-BDBF5118DAD4}" srcOrd="4" destOrd="0" presId="urn:microsoft.com/office/officeart/2005/8/layout/vList5"/>
    <dgm:cxn modelId="{765F3F7E-11B1-AD41-9E10-0C035F73BE52}" type="presParOf" srcId="{723ABA2D-51E7-D44C-B950-BDBF5118DAD4}" destId="{95520D2D-CF12-DD44-B88E-95C32580A2C9}" srcOrd="0" destOrd="0" presId="urn:microsoft.com/office/officeart/2005/8/layout/vList5"/>
    <dgm:cxn modelId="{03F3D826-DEC9-EE44-80C1-E5C978C9CADF}" type="presParOf" srcId="{E98234C0-F0FA-484E-A63F-3B9D69E91843}" destId="{168E4054-5A2E-B942-8FC6-ECAB705C70C0}" srcOrd="5" destOrd="0" presId="urn:microsoft.com/office/officeart/2005/8/layout/vList5"/>
    <dgm:cxn modelId="{27D14AB9-CC9E-E04F-A825-88F6F90A4729}" type="presParOf" srcId="{E98234C0-F0FA-484E-A63F-3B9D69E91843}" destId="{180EE395-6545-134E-B43A-E2651AE66830}" srcOrd="6" destOrd="0" presId="urn:microsoft.com/office/officeart/2005/8/layout/vList5"/>
    <dgm:cxn modelId="{53118C51-E1F2-2C40-8ABB-AE0A8EEA9D69}" type="presParOf" srcId="{180EE395-6545-134E-B43A-E2651AE66830}" destId="{74E43F8D-9CB9-D847-8766-7735E681C42B}" srcOrd="0" destOrd="0" presId="urn:microsoft.com/office/officeart/2005/8/layout/vList5"/>
    <dgm:cxn modelId="{DD0D6DA5-7B0E-3348-ACC6-9413C2F2C103}" type="presParOf" srcId="{E98234C0-F0FA-484E-A63F-3B9D69E91843}" destId="{05D2B073-BADA-D249-87FB-D46A935494A7}" srcOrd="7" destOrd="0" presId="urn:microsoft.com/office/officeart/2005/8/layout/vList5"/>
    <dgm:cxn modelId="{9C968C9A-5E29-5342-94DC-9438881D3AAA}" type="presParOf" srcId="{E98234C0-F0FA-484E-A63F-3B9D69E91843}" destId="{4A3F5572-D502-F341-AEF6-D76790F2392D}" srcOrd="8" destOrd="0" presId="urn:microsoft.com/office/officeart/2005/8/layout/vList5"/>
    <dgm:cxn modelId="{F114C2AC-677D-C64F-8887-EFCA1A38FBB0}" type="presParOf" srcId="{4A3F5572-D502-F341-AEF6-D76790F2392D}" destId="{84C03F11-EA55-994F-936D-A53B03D3EC91}" srcOrd="0" destOrd="0" presId="urn:microsoft.com/office/officeart/2005/8/layout/vList5"/>
    <dgm:cxn modelId="{5F73B943-9769-634E-B5F7-5E11F4B65F9B}" type="presParOf" srcId="{E98234C0-F0FA-484E-A63F-3B9D69E91843}" destId="{1D79F18D-1E15-7143-884C-7F0FBF5472A9}" srcOrd="9" destOrd="0" presId="urn:microsoft.com/office/officeart/2005/8/layout/vList5"/>
    <dgm:cxn modelId="{000B5B57-EECA-CF4E-949B-ADCA6F63372E}" type="presParOf" srcId="{E98234C0-F0FA-484E-A63F-3B9D69E91843}" destId="{62AC7199-0481-5542-931E-5D0FC32B3632}" srcOrd="10" destOrd="0" presId="urn:microsoft.com/office/officeart/2005/8/layout/vList5"/>
    <dgm:cxn modelId="{83C1EF47-49D2-3A44-8F37-DB76610430D2}" type="presParOf" srcId="{62AC7199-0481-5542-931E-5D0FC32B3632}" destId="{C6A3E3E0-6440-0D43-9E76-DF5C6E6DB779}" srcOrd="0" destOrd="0" presId="urn:microsoft.com/office/officeart/2005/8/layout/vList5"/>
    <dgm:cxn modelId="{5F362511-73A4-B64E-986B-9B62E05281FF}" type="presParOf" srcId="{E98234C0-F0FA-484E-A63F-3B9D69E91843}" destId="{A544384F-E383-1941-941F-185F5048847F}" srcOrd="11" destOrd="0" presId="urn:microsoft.com/office/officeart/2005/8/layout/vList5"/>
    <dgm:cxn modelId="{9A233CB0-AA8C-D84D-9A7B-20A4FD7B1963}" type="presParOf" srcId="{E98234C0-F0FA-484E-A63F-3B9D69E91843}" destId="{065EF81B-B1AB-EC4A-A49D-0CEF1EBE395C}" srcOrd="12" destOrd="0" presId="urn:microsoft.com/office/officeart/2005/8/layout/vList5"/>
    <dgm:cxn modelId="{5E3A1A59-91B7-6A43-8A04-D19EA21ADE25}" type="presParOf" srcId="{065EF81B-B1AB-EC4A-A49D-0CEF1EBE395C}" destId="{FF6AB7D5-BC32-A64C-B9DC-C932FD42CED1}" srcOrd="0" destOrd="0" presId="urn:microsoft.com/office/officeart/2005/8/layout/vList5"/>
    <dgm:cxn modelId="{13AEC4C5-10AA-E748-A8B1-80A2BE27D635}" type="presParOf" srcId="{E98234C0-F0FA-484E-A63F-3B9D69E91843}" destId="{C0AAE763-D768-CD4B-BD90-E1A5B043F2A5}" srcOrd="13" destOrd="0" presId="urn:microsoft.com/office/officeart/2005/8/layout/vList5"/>
    <dgm:cxn modelId="{1B6881E1-D8FA-CB40-8010-B9E15D74F7AB}" type="presParOf" srcId="{E98234C0-F0FA-484E-A63F-3B9D69E91843}" destId="{07F45A5F-22C6-0948-B669-1706A13692F4}" srcOrd="14" destOrd="0" presId="urn:microsoft.com/office/officeart/2005/8/layout/vList5"/>
    <dgm:cxn modelId="{6BE9EA8D-CE97-6148-8D1A-CC36A71B8FC4}" type="presParOf" srcId="{07F45A5F-22C6-0948-B669-1706A13692F4}" destId="{25F23AAA-9DF1-8B4C-83FB-E51C03D1257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27FE5-B6E5-8541-8099-66C08A436098}">
      <dsp:nvSpPr>
        <dsp:cNvPr id="0" name=""/>
        <dsp:cNvSpPr/>
      </dsp:nvSpPr>
      <dsp:spPr>
        <a:xfrm>
          <a:off x="3364992" y="172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Financijski instrumenti i investicije</a:t>
          </a:r>
          <a:endParaRPr lang="en-US" sz="1900" kern="1200"/>
        </a:p>
      </dsp:txBody>
      <dsp:txXfrm>
        <a:off x="3390429" y="25609"/>
        <a:ext cx="3734742" cy="470202"/>
      </dsp:txXfrm>
    </dsp:sp>
    <dsp:sp modelId="{CA5C4D34-C212-A64E-86E1-98BA8AEBE6C6}">
      <dsp:nvSpPr>
        <dsp:cNvPr id="0" name=""/>
        <dsp:cNvSpPr/>
      </dsp:nvSpPr>
      <dsp:spPr>
        <a:xfrm>
          <a:off x="3364992" y="547303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Modeliranje portfelja</a:t>
          </a:r>
          <a:endParaRPr lang="en-US" sz="1900" kern="1200"/>
        </a:p>
      </dsp:txBody>
      <dsp:txXfrm>
        <a:off x="3390429" y="572740"/>
        <a:ext cx="3734742" cy="470202"/>
      </dsp:txXfrm>
    </dsp:sp>
    <dsp:sp modelId="{95520D2D-CF12-DD44-B88E-95C32580A2C9}">
      <dsp:nvSpPr>
        <dsp:cNvPr id="0" name=""/>
        <dsp:cNvSpPr/>
      </dsp:nvSpPr>
      <dsp:spPr>
        <a:xfrm>
          <a:off x="3364992" y="1094434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Povrati, profit i rizik</a:t>
          </a:r>
          <a:endParaRPr lang="en-US" sz="1900" kern="1200"/>
        </a:p>
      </dsp:txBody>
      <dsp:txXfrm>
        <a:off x="3390429" y="1119871"/>
        <a:ext cx="3734742" cy="470202"/>
      </dsp:txXfrm>
    </dsp:sp>
    <dsp:sp modelId="{74E43F8D-9CB9-D847-8766-7735E681C42B}">
      <dsp:nvSpPr>
        <dsp:cNvPr id="0" name=""/>
        <dsp:cNvSpPr/>
      </dsp:nvSpPr>
      <dsp:spPr>
        <a:xfrm>
          <a:off x="3364992" y="1641565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Simulacije </a:t>
          </a:r>
          <a:endParaRPr lang="en-US" sz="1900" kern="1200"/>
        </a:p>
      </dsp:txBody>
      <dsp:txXfrm>
        <a:off x="3390429" y="1667002"/>
        <a:ext cx="3734742" cy="470202"/>
      </dsp:txXfrm>
    </dsp:sp>
    <dsp:sp modelId="{84C03F11-EA55-994F-936D-A53B03D3EC91}">
      <dsp:nvSpPr>
        <dsp:cNvPr id="0" name=""/>
        <dsp:cNvSpPr/>
      </dsp:nvSpPr>
      <dsp:spPr>
        <a:xfrm>
          <a:off x="3364992" y="2188695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Slaganje portfelja</a:t>
          </a:r>
          <a:endParaRPr lang="en-US" sz="1900" kern="1200"/>
        </a:p>
      </dsp:txBody>
      <dsp:txXfrm>
        <a:off x="3390429" y="2214132"/>
        <a:ext cx="3734742" cy="470202"/>
      </dsp:txXfrm>
    </dsp:sp>
    <dsp:sp modelId="{C6A3E3E0-6440-0D43-9E76-DF5C6E6DB779}">
      <dsp:nvSpPr>
        <dsp:cNvPr id="0" name=""/>
        <dsp:cNvSpPr/>
      </dsp:nvSpPr>
      <dsp:spPr>
        <a:xfrm>
          <a:off x="3364992" y="2735826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Kriptovalute</a:t>
          </a:r>
          <a:endParaRPr lang="en-US" sz="1900" kern="1200"/>
        </a:p>
      </dsp:txBody>
      <dsp:txXfrm>
        <a:off x="3390429" y="2761263"/>
        <a:ext cx="3734742" cy="470202"/>
      </dsp:txXfrm>
    </dsp:sp>
    <dsp:sp modelId="{FF6AB7D5-BC32-A64C-B9DC-C932FD42CED1}">
      <dsp:nvSpPr>
        <dsp:cNvPr id="0" name=""/>
        <dsp:cNvSpPr/>
      </dsp:nvSpPr>
      <dsp:spPr>
        <a:xfrm>
          <a:off x="3364992" y="3282957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Aplikacija</a:t>
          </a:r>
          <a:endParaRPr lang="en-US" sz="1900" kern="1200"/>
        </a:p>
      </dsp:txBody>
      <dsp:txXfrm>
        <a:off x="3390429" y="3308394"/>
        <a:ext cx="3734742" cy="470202"/>
      </dsp:txXfrm>
    </dsp:sp>
    <dsp:sp modelId="{25F23AAA-9DF1-8B4C-83FB-E51C03D12572}">
      <dsp:nvSpPr>
        <dsp:cNvPr id="0" name=""/>
        <dsp:cNvSpPr/>
      </dsp:nvSpPr>
      <dsp:spPr>
        <a:xfrm>
          <a:off x="3364992" y="3830088"/>
          <a:ext cx="3785616" cy="52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Rasprava</a:t>
          </a:r>
          <a:endParaRPr lang="en-US" sz="1900" kern="1200"/>
        </a:p>
      </dsp:txBody>
      <dsp:txXfrm>
        <a:off x="3390429" y="3855525"/>
        <a:ext cx="3734742" cy="470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CEEB6-BDEF-394B-A66E-41C264D0539E}" type="datetimeFigureOut">
              <a:rPr lang="hr-HR" smtClean="0"/>
              <a:t>10.07.2025.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A414B-CABD-3346-8CC7-FE0FA9E349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5840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53ED-24F4-1C2A-9088-0FECC35ED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84D10-0951-CC3D-53D4-79E2C0B00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41C6-6612-6C06-38B0-34DA7C6F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C2C60-6348-7F43-A56D-ED2ED814C9AA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C8C4-69F0-5392-5AC8-BF02EA10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09532-6ADC-974C-707A-09434FC7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2259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F524-221F-9627-5DB1-CA9297B9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71DE-50C5-F927-3ADF-9360E31C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1719-DD5B-B5F2-5D37-70D11F02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7EA9-1E36-3144-81D4-791A3E0E04BF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C85F3-AE40-C421-C153-B70812E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7DAC9-2F87-F4E4-6650-5843D0E2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4865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57ED-2D71-FB19-8CBA-58308EAD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E99C7-B245-597D-A564-8C54C1D53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BA3D1-C7AD-0541-E457-EE497A0E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1BC20-2484-4B43-B172-0714DF457F41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0A91E-41C7-05D6-544D-F9BFB271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51DC-1AC5-910B-01A3-8CE51B50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7469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121C-0BBB-FA55-F4D6-EDC3365E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59B1-0EA2-B269-61CB-87F49BB48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391FA-9E70-AED5-0C77-3928BE81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06EFD-F22F-104D-BEFF-4B8353B7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4038-4167-8A40-8C46-985A2AA820E6}" type="datetime1">
              <a:rPr lang="hr-HR" smtClean="0"/>
              <a:t>10.07.2025.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EDF17-B94B-5DE8-0A82-63230022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5C4EC-3B86-55DB-3B05-19E0038F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8658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58A6-3FDF-17DD-2CA3-B4A4AC15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25E18-4DBA-27A0-D73B-A7137A8B5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A21D8-8A64-B7C8-CE9B-9A1AC8BEB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9562C-E0E5-500A-8E03-20C40079B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1A8F3-B3C6-ABDB-5008-6CD44FC86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674E9-FAA1-DC80-7DB7-5DAD42C6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DF0AC-5CEC-2040-A15E-567679C2055E}" type="datetime1">
              <a:rPr lang="hr-HR" smtClean="0"/>
              <a:t>10.07.2025.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C979B-3EE5-EFDD-BFDD-66116AB7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AC127-A7A8-A368-EB61-2558EC77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215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4C4B-F255-A4FC-0DEF-545FC6B2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CBF70D-0343-C341-C05A-2AB48546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1B8A-5AB5-6F49-AF72-6CB3372360DE}" type="datetime1">
              <a:rPr lang="hr-HR" smtClean="0"/>
              <a:t>10.07.2025.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D653E-74B3-CB31-39BF-3A767E97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8BCC9-D6AD-F20A-CAC6-EFD528CF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1091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874E8-A476-C9F6-143E-2A281376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457-06B4-8946-96BF-58FE78BA601C}" type="datetime1">
              <a:rPr lang="hr-HR" smtClean="0"/>
              <a:t>10.07.2025.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433D3-3C8B-803A-EA0B-FF82DAC2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58CD5-9389-7AFF-B304-141CDC76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5973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70FD-E6EF-22FC-0A8A-C1EB0E24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643E-E737-45BA-19C0-3DCC576C2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F9F7C-14B7-ED32-3C07-401F91586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D06DD-C51B-0F7A-7310-8C75AF77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AD229-7AE5-0F46-8112-D9DFBC93E9A4}" type="datetime1">
              <a:rPr lang="hr-HR" smtClean="0"/>
              <a:t>10.07.2025.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6443B-61C4-62A6-5C3B-3E99B246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0DEC8-8990-7FC7-B648-55F5E9AA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224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9607-72A9-7593-E19C-6300DAD3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1F986-0BC5-5484-EA65-1A66D98BC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BED75-9CC6-99FD-AD49-69DA1F2EF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A6419-7761-99A1-5B94-CDE78A44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08BD-E05B-8747-BF4E-4DDD8F74DB7F}" type="datetime1">
              <a:rPr lang="hr-HR" smtClean="0"/>
              <a:t>10.07.2025.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FBA88-8DC9-17FE-E07A-3BD6D931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1F941-AF9F-32F8-AB42-CBF9AA1B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4166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CABE-C22C-452D-EE7C-932AEA28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D9F8A-BB55-1723-C55E-8EBA42995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1C4F6-D6A4-2423-6E6F-0B9BE052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96C5-09B3-CA46-ADD3-3E86129FF5F0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2AF86-000B-C6E2-190E-BCF7D02C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429F-A03D-AFFE-B85C-4910AD41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0800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87A72-C3CE-03BC-F66F-CF7CE2D57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6AECA-E4A7-A81C-AE2F-DA5CAAC47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B2DCE-C14D-5790-C900-B7B45ECD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A95B-BE6D-FD49-94EA-990A47F01450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EA369-5A2B-B50C-E0D3-9D709E65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8CF5-0DCE-56A6-6B22-773DEEB3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9754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2EA97-5850-01F4-FE49-76A5841F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6F904-A675-CF81-B61A-83870182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A8EC-FC80-527D-2FAC-582C823DD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5FAC5-EB51-0540-84AC-A6F70A4AC562}" type="datetime1">
              <a:rPr lang="hr-HR" smtClean="0"/>
              <a:t>10.07.2025.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0E55-DA7F-72F2-EF83-1390A1341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00AB-9D47-58E1-F968-D0C427E70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AB4D0-936D-A445-91AA-11A4F85535C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016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7663-0BD0-3A89-BC05-C9FB5A8B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4" y="2555370"/>
            <a:ext cx="8361229" cy="2098226"/>
          </a:xfrm>
        </p:spPr>
        <p:txBody>
          <a:bodyPr>
            <a:noAutofit/>
          </a:bodyPr>
          <a:lstStyle/>
          <a:p>
            <a:r>
              <a:rPr lang="en-GB" sz="5000" b="1" dirty="0" err="1"/>
              <a:t>Razvoj</a:t>
            </a:r>
            <a:r>
              <a:rPr lang="en-GB" sz="5000" b="1" dirty="0"/>
              <a:t> </a:t>
            </a:r>
            <a:r>
              <a:rPr lang="en-GB" sz="5000" b="1" dirty="0" err="1"/>
              <a:t>aplikacije</a:t>
            </a:r>
            <a:r>
              <a:rPr lang="en-GB" sz="5000" b="1" dirty="0"/>
              <a:t> za </a:t>
            </a:r>
            <a:r>
              <a:rPr lang="en-GB" sz="5000" b="1" dirty="0" err="1"/>
              <a:t>procjenu</a:t>
            </a:r>
            <a:r>
              <a:rPr lang="en-GB" sz="5000" b="1" dirty="0"/>
              <a:t> </a:t>
            </a:r>
            <a:r>
              <a:rPr lang="en-GB" sz="5000" b="1" dirty="0" err="1"/>
              <a:t>rizika</a:t>
            </a:r>
            <a:r>
              <a:rPr lang="en-GB" sz="5000" b="1" dirty="0"/>
              <a:t> u </a:t>
            </a:r>
            <a:r>
              <a:rPr lang="en-GB" sz="5000" b="1" dirty="0" err="1"/>
              <a:t>investicijskim</a:t>
            </a:r>
            <a:r>
              <a:rPr lang="en-GB" sz="5000" b="1" dirty="0"/>
              <a:t> </a:t>
            </a:r>
            <a:r>
              <a:rPr lang="en-GB" sz="5000" b="1" dirty="0" err="1"/>
              <a:t>portfeljima</a:t>
            </a:r>
            <a:r>
              <a:rPr lang="en-GB" sz="5000" b="1" dirty="0"/>
              <a:t> </a:t>
            </a:r>
            <a:r>
              <a:rPr lang="en-GB" sz="5000" b="1" dirty="0" err="1"/>
              <a:t>uz</a:t>
            </a:r>
            <a:r>
              <a:rPr lang="en-GB" sz="5000" b="1" dirty="0"/>
              <a:t> </a:t>
            </a:r>
            <a:r>
              <a:rPr lang="en-GB" sz="5000" b="1" dirty="0" err="1"/>
              <a:t>pomoć</a:t>
            </a:r>
            <a:r>
              <a:rPr lang="en-GB" sz="5000" b="1" dirty="0"/>
              <a:t> Monte Carlo </a:t>
            </a:r>
            <a:r>
              <a:rPr lang="en-GB" sz="5000" b="1" dirty="0" err="1"/>
              <a:t>simulacija</a:t>
            </a:r>
            <a:endParaRPr lang="hr-HR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BA3FE-69C5-99A1-E17A-2C1257665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1" y="4653596"/>
            <a:ext cx="6831673" cy="1086237"/>
          </a:xfrm>
        </p:spPr>
        <p:txBody>
          <a:bodyPr>
            <a:normAutofit fontScale="92500" lnSpcReduction="20000"/>
          </a:bodyPr>
          <a:lstStyle/>
          <a:p>
            <a:r>
              <a:rPr lang="hr-HR" dirty="0"/>
              <a:t>Ivan Džanija </a:t>
            </a:r>
          </a:p>
          <a:p>
            <a:r>
              <a:rPr lang="hr-HR" dirty="0"/>
              <a:t>Mentorica: </a:t>
            </a:r>
            <a:r>
              <a:rPr lang="en-GB" dirty="0" err="1"/>
              <a:t>izv</a:t>
            </a:r>
            <a:r>
              <a:rPr lang="en-GB" dirty="0"/>
              <a:t>. prof. dr. sc. Mihaela Vranić</a:t>
            </a:r>
          </a:p>
          <a:p>
            <a:r>
              <a:rPr lang="en-GB" dirty="0" err="1"/>
              <a:t>Fakultet</a:t>
            </a:r>
            <a:r>
              <a:rPr lang="en-GB" dirty="0"/>
              <a:t> </a:t>
            </a:r>
            <a:r>
              <a:rPr lang="en-GB" dirty="0" err="1"/>
              <a:t>elektrotehnike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računarstva</a:t>
            </a:r>
            <a:r>
              <a:rPr lang="en-GB" dirty="0"/>
              <a:t>, 2025.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148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6842-8EA8-911F-9787-ECA76C1B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ADC2CC6-B0D8-0D52-AACF-737E44F58B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4C69C-7F75-BCC0-1CCF-BBEFCD38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4898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5BBF-EA21-B97D-9114-7EC1C994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Financijski instrumenti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EAB0D-E7F6-4106-3E6B-C570C7B1D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/>
              <a:t>Dionice</a:t>
            </a:r>
          </a:p>
          <a:p>
            <a:r>
              <a:rPr lang="hr-HR" sz="2400" dirty="0"/>
              <a:t>Obveznice</a:t>
            </a:r>
          </a:p>
          <a:p>
            <a:r>
              <a:rPr lang="hr-HR" sz="2400" dirty="0"/>
              <a:t>Trezorski zapisi</a:t>
            </a:r>
          </a:p>
          <a:p>
            <a:r>
              <a:rPr lang="hr-HR" sz="2400" dirty="0" err="1"/>
              <a:t>Kriptovalute</a:t>
            </a:r>
            <a:r>
              <a:rPr lang="hr-HR" sz="2400" dirty="0"/>
              <a:t> </a:t>
            </a:r>
          </a:p>
          <a:p>
            <a:r>
              <a:rPr lang="hr-HR" sz="2400" dirty="0"/>
              <a:t>Izvedenice (</a:t>
            </a:r>
            <a:r>
              <a:rPr lang="hr-HR" sz="2400" dirty="0" err="1"/>
              <a:t>futures</a:t>
            </a:r>
            <a:r>
              <a:rPr lang="hr-HR" sz="2400" dirty="0"/>
              <a:t>, </a:t>
            </a:r>
            <a:r>
              <a:rPr lang="hr-HR" sz="2400" dirty="0" err="1"/>
              <a:t>options</a:t>
            </a:r>
            <a:r>
              <a:rPr lang="hr-HR" sz="2400" dirty="0"/>
              <a:t>, </a:t>
            </a:r>
            <a:r>
              <a:rPr lang="hr-HR" sz="2400" dirty="0" err="1"/>
              <a:t>swaps</a:t>
            </a:r>
            <a:r>
              <a:rPr lang="hr-HR" sz="2400" dirty="0"/>
              <a:t>)</a:t>
            </a:r>
          </a:p>
          <a:p>
            <a:r>
              <a:rPr lang="hr-HR" sz="2400" dirty="0"/>
              <a:t>Udjeli u fondovima</a:t>
            </a:r>
          </a:p>
          <a:p>
            <a:r>
              <a:rPr lang="hr-HR" sz="2400" dirty="0"/>
              <a:t>Krediti, </a:t>
            </a:r>
            <a:r>
              <a:rPr lang="hr-HR" sz="2400" dirty="0" err="1"/>
              <a:t>forex</a:t>
            </a:r>
            <a:r>
              <a:rPr lang="hr-HR" sz="2400" dirty="0"/>
              <a:t>, umjetnine, satovi…  </a:t>
            </a:r>
          </a:p>
          <a:p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8A3CB-C7D5-7622-4F1D-394E6D4E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0317593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7658-2CDF-78D0-7808-5166F895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Investicijski portfelj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AD71-A86D-BA2A-110B-F25A84445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/>
              <a:t>Skup financijske imovine sastavljen od raznih financijskih instrumenata</a:t>
            </a:r>
          </a:p>
          <a:p>
            <a:r>
              <a:rPr lang="hr-HR" sz="2400" dirty="0"/>
              <a:t>Investiranje – trenutno odricanje za buduću dobit</a:t>
            </a:r>
          </a:p>
          <a:p>
            <a:r>
              <a:rPr lang="hr-HR" sz="2400" dirty="0"/>
              <a:t>Cilj: stvoriti portfelj koji donosi maksimalnu buduću dobit uz minimalni rizik</a:t>
            </a:r>
          </a:p>
          <a:p>
            <a:r>
              <a:rPr lang="hr-HR" sz="2400" dirty="0"/>
              <a:t>Rješenja: ekonomske teorije, psihologija mase/društva, teorija igara, matematičko modeliranje</a:t>
            </a:r>
          </a:p>
          <a:p>
            <a:r>
              <a:rPr lang="hr-HR" sz="2400" dirty="0"/>
              <a:t>Portfelj – vektor udjela u pojedini financijski instrument</a:t>
            </a:r>
          </a:p>
          <a:p>
            <a:endParaRPr lang="hr-HR" sz="2400" dirty="0"/>
          </a:p>
        </p:txBody>
      </p:sp>
      <p:pic>
        <p:nvPicPr>
          <p:cNvPr id="5" name="Picture 4" descr="A black and white image of a rectangular object with a rectangular object with a rectangular object with a rectangular object with a rectangular object with a rectangular object with a rectangular object with a rectangular object with a&#10;&#10;AI-generated content may be incorrect.">
            <a:extLst>
              <a:ext uri="{FF2B5EF4-FFF2-40B4-BE49-F238E27FC236}">
                <a16:creationId xmlns:a16="http://schemas.microsoft.com/office/drawing/2014/main" id="{8CB3F067-CEB2-DA0B-C1FC-36259A2D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65" y="4714875"/>
            <a:ext cx="2336800" cy="177800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FFDA23-4264-3273-B93D-0ACE8A9BC5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847268"/>
              </p:ext>
            </p:extLst>
          </p:nvPr>
        </p:nvGraphicFramePr>
        <p:xfrm>
          <a:off x="7595419" y="3790335"/>
          <a:ext cx="4596581" cy="2960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486DD-4EA1-558A-C154-DAA2F9D7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15307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F5A88-7B18-FE40-8744-EA4A8833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hr-HR" dirty="0"/>
              <a:t>Modeliranje portfelja? Predviđanje buduće vrijednosti?</a:t>
            </a:r>
          </a:p>
        </p:txBody>
      </p:sp>
      <p:pic>
        <p:nvPicPr>
          <p:cNvPr id="5" name="Picture 4" descr="A graph of a stock market&#10;&#10;AI-generated content may be incorrect.">
            <a:extLst>
              <a:ext uri="{FF2B5EF4-FFF2-40B4-BE49-F238E27FC236}">
                <a16:creationId xmlns:a16="http://schemas.microsoft.com/office/drawing/2014/main" id="{E02D3168-27FE-C45D-9086-41AEFEDAC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2441274"/>
            <a:ext cx="5173647" cy="32335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2F94D-1947-2EC9-C80C-E4441EAB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hr-HR" sz="1800" dirty="0"/>
              <a:t>Ekonomska teorija -&gt; potrošačka košarica -&gt; inflacija -&gt; predviđanje recesija/rast</a:t>
            </a:r>
          </a:p>
          <a:p>
            <a:r>
              <a:rPr lang="hr-HR" sz="1800" dirty="0"/>
              <a:t>Psihologija -&gt; </a:t>
            </a:r>
            <a:r>
              <a:rPr lang="hr-HR" sz="1800" dirty="0" err="1"/>
              <a:t>Covid</a:t>
            </a:r>
            <a:r>
              <a:rPr lang="hr-HR" sz="1800" dirty="0"/>
              <a:t> -&gt; Ljudi  trebaju novce sada za zalihe -&gt; predviđanje pada vrijednosti investicija za budućnost</a:t>
            </a:r>
          </a:p>
          <a:p>
            <a:r>
              <a:rPr lang="hr-HR" sz="1800" dirty="0"/>
              <a:t>Izrazito nepouzdano, nagađanje</a:t>
            </a:r>
          </a:p>
          <a:p>
            <a:r>
              <a:rPr lang="hr-HR" sz="1800" dirty="0"/>
              <a:t>Moderna teorija portfelja – H. </a:t>
            </a:r>
            <a:r>
              <a:rPr lang="hr-HR" sz="1800" dirty="0" err="1"/>
              <a:t>Markowitz</a:t>
            </a:r>
            <a:r>
              <a:rPr lang="hr-HR" sz="1800" dirty="0"/>
              <a:t> (Nobel)</a:t>
            </a:r>
          </a:p>
          <a:p>
            <a:r>
              <a:rPr lang="hr-HR" sz="1800" dirty="0"/>
              <a:t>Statistika, stohastički procesi, teorija vjerojatnosti, obrada signala</a:t>
            </a:r>
          </a:p>
          <a:p>
            <a:r>
              <a:rPr lang="hr-HR" sz="1800" dirty="0"/>
              <a:t>Imaju lijepe matematičke reprezentacije, egzaktna rješenja </a:t>
            </a:r>
          </a:p>
          <a:p>
            <a:r>
              <a:rPr lang="hr-HR" sz="1800" dirty="0"/>
              <a:t>Koji matematički model primijeniti i na što točno?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85A5-C352-2D2B-8192-680C38DA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401400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9B1E-88CA-4AC9-E824-AA00B0FD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Povrati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9A09-F80B-1C61-AFAB-DA5C007FB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7525" cy="4667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hr-HR" dirty="0"/>
              <a:t>Aritmetički povrat</a:t>
            </a:r>
          </a:p>
          <a:p>
            <a:pPr>
              <a:lnSpc>
                <a:spcPct val="170000"/>
              </a:lnSpc>
            </a:pPr>
            <a:r>
              <a:rPr lang="hr-HR" dirty="0"/>
              <a:t>Logaritamski povrat</a:t>
            </a:r>
          </a:p>
          <a:p>
            <a:pPr>
              <a:lnSpc>
                <a:spcPct val="170000"/>
              </a:lnSpc>
            </a:pPr>
            <a:r>
              <a:rPr lang="hr-HR" dirty="0"/>
              <a:t>Očekivani povrat</a:t>
            </a:r>
          </a:p>
          <a:p>
            <a:pPr>
              <a:lnSpc>
                <a:spcPct val="170000"/>
              </a:lnSpc>
            </a:pPr>
            <a:r>
              <a:rPr lang="hr-HR" dirty="0"/>
              <a:t>Generalizacija na cijeli portfelj (linearna kombinacija)</a:t>
            </a:r>
          </a:p>
          <a:p>
            <a:pPr>
              <a:lnSpc>
                <a:spcPct val="170000"/>
              </a:lnSpc>
            </a:pPr>
            <a:r>
              <a:rPr lang="hr-HR" dirty="0"/>
              <a:t>Veliki skup podataka povijesni povrata</a:t>
            </a:r>
          </a:p>
          <a:p>
            <a:pPr>
              <a:lnSpc>
                <a:spcPct val="170000"/>
              </a:lnSpc>
            </a:pPr>
            <a:r>
              <a:rPr lang="hr-HR" dirty="0"/>
              <a:t>Generaliziramo iz skupa podataka povrate i na temelju toga donosimo zaključke i interpretacije</a:t>
            </a:r>
          </a:p>
        </p:txBody>
      </p:sp>
      <p:pic>
        <p:nvPicPr>
          <p:cNvPr id="5" name="Picture 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4AD3A477-EB91-0FE6-B234-FCE0C574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0" y="1343025"/>
            <a:ext cx="3492500" cy="965200"/>
          </a:xfrm>
          <a:prstGeom prst="rect">
            <a:avLst/>
          </a:prstGeom>
        </p:spPr>
      </p:pic>
      <p:pic>
        <p:nvPicPr>
          <p:cNvPr id="7" name="Picture 6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27C1F438-980C-8F1C-2E8A-7805122B6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2152651"/>
            <a:ext cx="3136900" cy="812800"/>
          </a:xfrm>
          <a:prstGeom prst="rect">
            <a:avLst/>
          </a:prstGeom>
        </p:spPr>
      </p:pic>
      <p:pic>
        <p:nvPicPr>
          <p:cNvPr id="9" name="Picture 8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34F8109-0CE0-5669-15FF-9BAA0642E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50" y="2965451"/>
            <a:ext cx="1778000" cy="711200"/>
          </a:xfrm>
          <a:prstGeom prst="rect">
            <a:avLst/>
          </a:prstGeom>
        </p:spPr>
      </p:pic>
      <p:pic>
        <p:nvPicPr>
          <p:cNvPr id="11" name="Picture 10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7BE30B0F-B0B2-2C47-A416-E830F23BD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052" y="3535137"/>
            <a:ext cx="2260600" cy="711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3A674-1F73-C569-4198-4509A496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4402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A220-DE77-522F-8810-F343E75F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Rizik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D6E3-F95F-0C5B-C494-8736328C2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5335" cy="4667250"/>
          </a:xfrm>
        </p:spPr>
        <p:txBody>
          <a:bodyPr/>
          <a:lstStyle/>
          <a:p>
            <a:r>
              <a:rPr lang="hr-HR" dirty="0"/>
              <a:t>Na koji način mjeriti rizik? </a:t>
            </a:r>
          </a:p>
          <a:p>
            <a:r>
              <a:rPr lang="hr-HR" dirty="0"/>
              <a:t>Jednostavna mjera s lijepim matematičkim svojstvima: VOLATILNOST</a:t>
            </a:r>
          </a:p>
          <a:p>
            <a:r>
              <a:rPr lang="hr-HR" dirty="0"/>
              <a:t>Volatilnost – nepristran procjenitelj standardne devijacije slučajne varijable R</a:t>
            </a:r>
            <a:r>
              <a:rPr lang="hr-HR" baseline="-25000" dirty="0"/>
              <a:t>t</a:t>
            </a:r>
          </a:p>
          <a:p>
            <a:r>
              <a:rPr lang="hr-HR" dirty="0"/>
              <a:t>Nije najbolja mjera rizika – uglavnom smo sretni ako nam volatilnost donese profit </a:t>
            </a:r>
          </a:p>
        </p:txBody>
      </p:sp>
      <p:pic>
        <p:nvPicPr>
          <p:cNvPr id="5" name="Picture 4" descr="A black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A8A5915-2DA7-6A44-E94A-D2091C629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560" y="1825625"/>
            <a:ext cx="4083240" cy="1905512"/>
          </a:xfrm>
          <a:prstGeom prst="rect">
            <a:avLst/>
          </a:prstGeom>
        </p:spPr>
      </p:pic>
      <p:pic>
        <p:nvPicPr>
          <p:cNvPr id="7" name="Picture 6" descr="A square root of a mathematical equation&#10;&#10;AI-generated content may be incorrect.">
            <a:extLst>
              <a:ext uri="{FF2B5EF4-FFF2-40B4-BE49-F238E27FC236}">
                <a16:creationId xmlns:a16="http://schemas.microsoft.com/office/drawing/2014/main" id="{CCC0A1C9-FCCA-ECE4-DDD7-AF95B94AB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123" y="4306529"/>
            <a:ext cx="2826556" cy="1120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2B5D1-5F95-CC1B-1934-29D8FE604997}"/>
              </a:ext>
            </a:extLst>
          </p:cNvPr>
          <p:cNvSpPr txBox="1"/>
          <p:nvPr/>
        </p:nvSpPr>
        <p:spPr>
          <a:xfrm>
            <a:off x="6742172" y="1609052"/>
            <a:ext cx="544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Volatilnost jedne varijable/investicijskog instrumenta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71B37-AC94-AD93-C2E2-7585E7366DE2}"/>
              </a:ext>
            </a:extLst>
          </p:cNvPr>
          <p:cNvSpPr txBox="1"/>
          <p:nvPr/>
        </p:nvSpPr>
        <p:spPr>
          <a:xfrm>
            <a:off x="6873268" y="3974584"/>
            <a:ext cx="4820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Volatilnost više varijabli/investicijskog portfelja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69A63-CE70-B472-313A-6B10050C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14601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203200" dist="1270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36F7B-7ED0-6015-60AC-7472A97A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84047"/>
            <a:ext cx="4495999" cy="2658201"/>
          </a:xfrm>
        </p:spPr>
        <p:txBody>
          <a:bodyPr anchor="ctr">
            <a:normAutofit/>
          </a:bodyPr>
          <a:lstStyle/>
          <a:p>
            <a:r>
              <a:rPr lang="hr-HR" sz="4000" dirty="0"/>
              <a:t>Monte Carlo simulacije,</a:t>
            </a:r>
            <a:br>
              <a:rPr lang="hr-HR" sz="4000" dirty="0"/>
            </a:br>
            <a:r>
              <a:rPr lang="hr-HR" sz="4000" dirty="0"/>
              <a:t>Geometrijsko </a:t>
            </a:r>
            <a:r>
              <a:rPr lang="hr-HR" sz="4000" dirty="0" err="1"/>
              <a:t>Brownovo</a:t>
            </a:r>
            <a:r>
              <a:rPr lang="hr-HR" sz="4000" dirty="0"/>
              <a:t> gibanje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FA61-B056-779A-82D8-28CEF2A2A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4048"/>
            <a:ext cx="5257799" cy="2658201"/>
          </a:xfrm>
        </p:spPr>
        <p:txBody>
          <a:bodyPr anchor="ctr">
            <a:normAutofit/>
          </a:bodyPr>
          <a:lstStyle/>
          <a:p>
            <a:r>
              <a:rPr lang="hr-HR" sz="1700"/>
              <a:t>Statistička metoda – ponovno uzorkovanje </a:t>
            </a:r>
          </a:p>
          <a:p>
            <a:r>
              <a:rPr lang="hr-HR" sz="1700"/>
              <a:t>Puno simulacija, nova distribucija predviđanja budućih vrijednosti, interpretacija distribucije</a:t>
            </a:r>
          </a:p>
          <a:p>
            <a:r>
              <a:rPr lang="hr-HR" sz="1700"/>
              <a:t>Nije točno određen matematički model – odabrano Geometrijsko Brownovo gibanje (GMB)</a:t>
            </a:r>
          </a:p>
          <a:p>
            <a:r>
              <a:rPr lang="hr-HR" sz="1700"/>
              <a:t>GMB – stohastički proces, konstantna volatilnost, asimetričnost povrata, logaritamski povrati</a:t>
            </a:r>
          </a:p>
          <a:p>
            <a:endParaRPr lang="hr-HR" sz="1700"/>
          </a:p>
          <a:p>
            <a:endParaRPr lang="hr-HR" sz="1700"/>
          </a:p>
        </p:txBody>
      </p:sp>
      <p:pic>
        <p:nvPicPr>
          <p:cNvPr id="5" name="Picture 4" descr="A black text with a plus and a plus symbol&#10;&#10;AI-generated content may be incorrect.">
            <a:extLst>
              <a:ext uri="{FF2B5EF4-FFF2-40B4-BE49-F238E27FC236}">
                <a16:creationId xmlns:a16="http://schemas.microsoft.com/office/drawing/2014/main" id="{8AE23AE7-0916-D2DE-6555-F74F0966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2" y="4268384"/>
            <a:ext cx="5160779" cy="1638546"/>
          </a:xfrm>
          <a:prstGeom prst="rect">
            <a:avLst/>
          </a:prstGeom>
          <a:effectLst/>
        </p:spPr>
      </p:pic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47A32EB-4838-0583-32B1-9FAA0B249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14" y="4182062"/>
            <a:ext cx="5109485" cy="1788320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C6219-BFC2-5B7E-3D4C-159D308B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419387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D935-5C27-E627-CE7B-87E69DFC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PCA dekompozicija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3D62-F22C-4A82-18F9-5D4A5881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/>
              <a:t>Diverzifikacija = smanjenje rizika, </a:t>
            </a:r>
            <a:r>
              <a:rPr lang="en-GB" sz="2400"/>
              <a:t>“Diversification is the only free lunch in investing” – H. Markowitz</a:t>
            </a:r>
            <a:endParaRPr lang="hr-HR" sz="2400" dirty="0"/>
          </a:p>
        </p:txBody>
      </p:sp>
      <p:pic>
        <p:nvPicPr>
          <p:cNvPr id="7" name="Picture 6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93D45645-2FF8-7E00-7A1C-2DFBC9F1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45" y="2582189"/>
            <a:ext cx="9055510" cy="37297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EA0C8-07AF-18E5-E5B9-1771FFA3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3281349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3139-F9C7-D5AA-664F-55C3DA40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Dodatni alati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1102C-A0F1-0D19-14B0-FEF403A0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1" y="2506662"/>
            <a:ext cx="4972665" cy="4351338"/>
          </a:xfrm>
        </p:spPr>
        <p:txBody>
          <a:bodyPr>
            <a:normAutofit/>
          </a:bodyPr>
          <a:lstStyle/>
          <a:p>
            <a:r>
              <a:rPr lang="hr-HR" sz="2400" dirty="0" err="1"/>
              <a:t>Uzoračka</a:t>
            </a:r>
            <a:r>
              <a:rPr lang="hr-HR" sz="2400" dirty="0"/>
              <a:t> matrica kovarijance</a:t>
            </a:r>
          </a:p>
          <a:p>
            <a:r>
              <a:rPr lang="hr-HR" sz="2400" dirty="0" err="1"/>
              <a:t>Cholesky</a:t>
            </a:r>
            <a:r>
              <a:rPr lang="hr-HR" sz="2400" dirty="0"/>
              <a:t> dekompozicija</a:t>
            </a:r>
          </a:p>
          <a:p>
            <a:r>
              <a:rPr lang="hr-HR" sz="2400" dirty="0"/>
              <a:t>Svojstvena dekompozicija </a:t>
            </a:r>
          </a:p>
          <a:p>
            <a:r>
              <a:rPr lang="hr-HR" sz="2400" dirty="0"/>
              <a:t>QR dekompozicija </a:t>
            </a:r>
          </a:p>
          <a:p>
            <a:r>
              <a:rPr lang="hr-HR" sz="2400" dirty="0"/>
              <a:t>Metoda inverznih iteracija </a:t>
            </a:r>
          </a:p>
          <a:p>
            <a:r>
              <a:rPr lang="hr-HR" sz="2400" dirty="0" err="1"/>
              <a:t>Schurova</a:t>
            </a:r>
            <a:r>
              <a:rPr lang="hr-HR" sz="2400" dirty="0"/>
              <a:t> forma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E2637-9B74-D4D3-3293-D6972A5CC093}"/>
              </a:ext>
            </a:extLst>
          </p:cNvPr>
          <p:cNvSpPr txBox="1"/>
          <p:nvPr/>
        </p:nvSpPr>
        <p:spPr>
          <a:xfrm>
            <a:off x="838200" y="1690688"/>
            <a:ext cx="3082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/>
              <a:t>Matematički: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C6A6CE-4A3B-6F72-EB44-6E8FE06B5662}"/>
              </a:ext>
            </a:extLst>
          </p:cNvPr>
          <p:cNvSpPr txBox="1">
            <a:spLocks/>
          </p:cNvSpPr>
          <p:nvPr/>
        </p:nvSpPr>
        <p:spPr>
          <a:xfrm>
            <a:off x="6612193" y="2506662"/>
            <a:ext cx="49726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400" dirty="0"/>
              <a:t>Qt biblioteka (GUI)</a:t>
            </a:r>
          </a:p>
          <a:p>
            <a:r>
              <a:rPr lang="hr-HR" sz="2400" dirty="0"/>
              <a:t>.</a:t>
            </a:r>
            <a:r>
              <a:rPr lang="hr-HR" sz="2400" dirty="0" err="1"/>
              <a:t>csv</a:t>
            </a:r>
            <a:r>
              <a:rPr lang="hr-HR" sz="2400" dirty="0"/>
              <a:t> čitač</a:t>
            </a:r>
          </a:p>
          <a:p>
            <a:endParaRPr lang="hr-H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F0B0F-0833-DF95-857A-9FA0AFE8A965}"/>
              </a:ext>
            </a:extLst>
          </p:cNvPr>
          <p:cNvSpPr txBox="1"/>
          <p:nvPr/>
        </p:nvSpPr>
        <p:spPr>
          <a:xfrm>
            <a:off x="6356554" y="1690688"/>
            <a:ext cx="333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/>
              <a:t>Programski: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B5B71-19ED-ECCB-2F47-B146B28AC330}"/>
              </a:ext>
            </a:extLst>
          </p:cNvPr>
          <p:cNvSpPr txBox="1"/>
          <p:nvPr/>
        </p:nvSpPr>
        <p:spPr>
          <a:xfrm>
            <a:off x="6356554" y="4286270"/>
            <a:ext cx="49726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/>
              <a:t>Najbitniji: Skup podataka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90AE2-40CB-F97A-3EE1-6BB5942E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62132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35191-ACC3-FA51-AEA2-DDFCAF61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hr-HR" dirty="0" err="1"/>
              <a:t>Kriptovalute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2935-2DA9-7756-1E7A-461F9BA30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hr-HR" sz="1800" dirty="0"/>
              <a:t>Financijski instrumenti</a:t>
            </a:r>
          </a:p>
          <a:p>
            <a:r>
              <a:rPr lang="hr-HR" sz="1800" dirty="0"/>
              <a:t>Izrazito </a:t>
            </a:r>
            <a:r>
              <a:rPr lang="hr-HR" sz="1800" dirty="0" err="1"/>
              <a:t>volatilne</a:t>
            </a:r>
            <a:r>
              <a:rPr lang="hr-HR" sz="1800" dirty="0"/>
              <a:t>, relativno nove, slabo regulirane</a:t>
            </a:r>
          </a:p>
          <a:p>
            <a:r>
              <a:rPr lang="hr-HR" sz="1800" dirty="0"/>
              <a:t>Dostupnost i povjerenje zahtjeva tehničku pozadinu (vrijednost nije samo platna moć nego distribuiranost, decentraliziranost, kriptografija)</a:t>
            </a:r>
          </a:p>
          <a:p>
            <a:r>
              <a:rPr lang="hr-HR" sz="1800" dirty="0"/>
              <a:t>Izrazito međusobno korelirane</a:t>
            </a:r>
          </a:p>
          <a:p>
            <a:endParaRPr lang="hr-HR" sz="1800" dirty="0"/>
          </a:p>
        </p:txBody>
      </p:sp>
      <p:pic>
        <p:nvPicPr>
          <p:cNvPr id="5" name="Picture 4" descr="A graph of stock prices&#10;&#10;AI-generated content may be incorrect.">
            <a:extLst>
              <a:ext uri="{FF2B5EF4-FFF2-40B4-BE49-F238E27FC236}">
                <a16:creationId xmlns:a16="http://schemas.microsoft.com/office/drawing/2014/main" id="{EB3424A8-4620-188B-D304-05E918AA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954960"/>
            <a:ext cx="5837780" cy="2948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E7D7F4-9E29-A82C-1F5F-62EC42D8F46D}"/>
              </a:ext>
            </a:extLst>
          </p:cNvPr>
          <p:cNvSpPr txBox="1"/>
          <p:nvPr/>
        </p:nvSpPr>
        <p:spPr>
          <a:xfrm>
            <a:off x="5691261" y="5117690"/>
            <a:ext cx="583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Cijene Bitcoin-a tijekom 2025.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C5B70-034F-701E-73B9-0E5C9582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844183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53C0-A515-B058-E8B6-98977F82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Aplikacija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813C-BB96-7D93-07C9-404ECA30E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C++ - samostalna implementacija matematičkih objekata i operacija, Qt biblioteka za grafičko sučelje </a:t>
            </a:r>
          </a:p>
          <a:p>
            <a:r>
              <a:rPr lang="hr-HR" dirty="0"/>
              <a:t>Korisnik izabire </a:t>
            </a:r>
            <a:r>
              <a:rPr lang="hr-HR" dirty="0" err="1"/>
              <a:t>kriptovalute</a:t>
            </a:r>
            <a:r>
              <a:rPr lang="hr-HR" dirty="0"/>
              <a:t> i količine koje želi staviti u portfelj ili maknuti iz portfelja </a:t>
            </a:r>
          </a:p>
          <a:p>
            <a:r>
              <a:rPr lang="hr-HR" dirty="0"/>
              <a:t>Opcija 1: Monte Carlo simulacija -&gt; korisnik odabire broj simulacija i broj koraka -&gt; pregled simulacije -&gt; pregled distribucije i statističkih podataka te simulacije</a:t>
            </a:r>
          </a:p>
          <a:p>
            <a:r>
              <a:rPr lang="hr-HR" dirty="0"/>
              <a:t>Opcija 2: PCA </a:t>
            </a:r>
            <a:r>
              <a:rPr lang="hr-HR" dirty="0" err="1"/>
              <a:t>dekompozcija</a:t>
            </a:r>
            <a:r>
              <a:rPr lang="hr-HR" dirty="0"/>
              <a:t> -&gt; korisnik bira broj komponenti -&gt; grafički prikaz svake od komponenti -&gt; postotak objašnjene varijance svake komponente -&gt; optimalan svojstveni portfelj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821D-6FE2-1056-25C9-AA73939B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11215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DDE8-8FE5-E604-1AFD-FE95BD44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Final.mov">
            <a:hlinkClick r:id="" action="ppaction://media"/>
            <a:extLst>
              <a:ext uri="{FF2B5EF4-FFF2-40B4-BE49-F238E27FC236}">
                <a16:creationId xmlns:a16="http://schemas.microsoft.com/office/drawing/2014/main" id="{A363F553-F555-5C81-3FE3-EDD71390BD0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E351C0-64CA-BDCB-4D2B-1A38697F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69315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8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8A674-E80B-C748-8863-E386E267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hr-HR" dirty="0"/>
              <a:t>Ograničenja modela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D2E8-5979-DBFA-A04E-D30908905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hr-HR" sz="1800"/>
              <a:t>Model pretpostavlja konstantnu volatilnost, iako se mijenja kroz vrijeme </a:t>
            </a:r>
          </a:p>
          <a:p>
            <a:r>
              <a:rPr lang="hr-HR" sz="1800"/>
              <a:t>Ograničen je samo na povijesne podatke</a:t>
            </a:r>
          </a:p>
          <a:p>
            <a:r>
              <a:rPr lang="hr-HR" sz="1800"/>
              <a:t>Moguće unaprijediti s analizom sentimenta, analiza kompleksnih mreža i grafova društva, praćenjem regulativa i promjena kreditnih rejtinga</a:t>
            </a:r>
          </a:p>
          <a:p>
            <a:r>
              <a:rPr lang="hr-HR" sz="1800"/>
              <a:t>Uzima u obzir samo povijesnu srednju vrijednost i standardnu devijaciju</a:t>
            </a:r>
          </a:p>
          <a:p>
            <a:r>
              <a:rPr lang="hr-HR" sz="1800"/>
              <a:t>Stohastička slučajna šetnja </a:t>
            </a:r>
          </a:p>
          <a:p>
            <a:endParaRPr lang="hr-HR" sz="1800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E2089D7-B186-216E-977A-D25F2E296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502533"/>
            <a:ext cx="5837780" cy="3852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244F7-A645-2A4A-D657-76499BEE3B15}"/>
              </a:ext>
            </a:extLst>
          </p:cNvPr>
          <p:cNvSpPr txBox="1"/>
          <p:nvPr/>
        </p:nvSpPr>
        <p:spPr>
          <a:xfrm>
            <a:off x="6566472" y="5506568"/>
            <a:ext cx="4293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 dirty="0"/>
              <a:t>Veliku i naglu volatilnost je izrazito teško modelirati stohastičkim alatima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C01EE-768A-2980-D767-6FABF5B7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8554732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4434-9A4D-60F5-9D83-825F7369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B45F-ED4F-F1DE-6BBC-6BE1BF891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Aplikacija + modularna biblioteka za financijsko modeliranje </a:t>
            </a:r>
          </a:p>
          <a:p>
            <a:r>
              <a:rPr lang="hr-HR" dirty="0"/>
              <a:t>Učenje numeričkih, stohastičkih i statističkih metoda</a:t>
            </a:r>
          </a:p>
          <a:p>
            <a:r>
              <a:rPr lang="hr-HR" dirty="0"/>
              <a:t>„Svi modeli su krivi, ali neki su korisni” – G. E. P. </a:t>
            </a:r>
            <a:r>
              <a:rPr lang="hr-HR" dirty="0" err="1"/>
              <a:t>Box</a:t>
            </a:r>
            <a:endParaRPr lang="hr-HR" dirty="0"/>
          </a:p>
          <a:p>
            <a:r>
              <a:rPr lang="hr-HR" dirty="0"/>
              <a:t>Predviđanje kretanja cijena je ogroman dinamički sustav sa bezbroj faktora koji utječu na ishod – odabir modela je ključan za pojednostavljenje i </a:t>
            </a:r>
            <a:r>
              <a:rPr lang="hr-HR" dirty="0" err="1"/>
              <a:t>interpretabilnost</a:t>
            </a:r>
            <a:r>
              <a:rPr lang="hr-HR" dirty="0"/>
              <a:t> – gubimo dio informacija</a:t>
            </a:r>
          </a:p>
          <a:p>
            <a:r>
              <a:rPr lang="hr-HR" dirty="0"/>
              <a:t>Moguće nadogradnje: optimizacija numeričkih algoritama, dohvaćanje većeg broja informacija (u realnom vremenu), beskonačne mogućnosti dodavanja novih modela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431C-95E2-43EA-0537-7023AB31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60563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4B5A-2B28-5714-53FC-17B825F2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736" y="2766218"/>
            <a:ext cx="10515600" cy="1325563"/>
          </a:xfrm>
        </p:spPr>
        <p:txBody>
          <a:bodyPr>
            <a:normAutofit/>
          </a:bodyPr>
          <a:lstStyle/>
          <a:p>
            <a:r>
              <a:rPr lang="hr-HR" sz="5500" dirty="0"/>
              <a:t>Hvala na pažnji!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33577-232A-A862-4B36-5796B6E7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AB4D0-936D-A445-91AA-11A4F85535CB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1491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2477</TotalTime>
  <Words>672</Words>
  <Application>Microsoft Macintosh PowerPoint</Application>
  <PresentationFormat>Widescreen</PresentationFormat>
  <Paragraphs>109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Razvoj aplikacije za procjenu rizika u investicijskim portfeljima uz pomoć Monte Carlo simulacija</vt:lpstr>
      <vt:lpstr>Sadržaj</vt:lpstr>
      <vt:lpstr>Financijski instrumenti</vt:lpstr>
      <vt:lpstr>Investicijski portfelj</vt:lpstr>
      <vt:lpstr>Modeliranje portfelja? Predviđanje buduće vrijednosti?</vt:lpstr>
      <vt:lpstr>Povrati </vt:lpstr>
      <vt:lpstr>Rizik</vt:lpstr>
      <vt:lpstr>Monte Carlo simulacije, Geometrijsko Brownovo gibanje</vt:lpstr>
      <vt:lpstr>PCA dekompozicija </vt:lpstr>
      <vt:lpstr>Dodatni alati</vt:lpstr>
      <vt:lpstr>Kriptovalute</vt:lpstr>
      <vt:lpstr>Aplikacija</vt:lpstr>
      <vt:lpstr>PowerPoint Presentation</vt:lpstr>
      <vt:lpstr>Ograničenja modela 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Džanija</dc:creator>
  <cp:lastModifiedBy>Ivan Džanija</cp:lastModifiedBy>
  <cp:revision>6</cp:revision>
  <dcterms:created xsi:type="dcterms:W3CDTF">2025-07-08T17:14:42Z</dcterms:created>
  <dcterms:modified xsi:type="dcterms:W3CDTF">2025-07-11T08:58:22Z</dcterms:modified>
</cp:coreProperties>
</file>